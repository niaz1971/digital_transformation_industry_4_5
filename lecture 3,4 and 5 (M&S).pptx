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1" r:id="rId4"/>
    <p:sldId id="262" r:id="rId5"/>
    <p:sldId id="263" r:id="rId6"/>
    <p:sldId id="264" r:id="rId7"/>
    <p:sldId id="265" r:id="rId8"/>
    <p:sldId id="266" r:id="rId9"/>
    <p:sldId id="267" r:id="rId10"/>
    <p:sldId id="268" r:id="rId11"/>
    <p:sldId id="270" r:id="rId12"/>
    <p:sldId id="271" r:id="rId13"/>
    <p:sldId id="272" r:id="rId14"/>
    <p:sldId id="273" r:id="rId15"/>
    <p:sldId id="274" r:id="rId16"/>
    <p:sldId id="275" r:id="rId17"/>
    <p:sldId id="276" r:id="rId18"/>
    <p:sldId id="277" r:id="rId19"/>
    <p:sldId id="278" r:id="rId20"/>
    <p:sldId id="280" r:id="rId21"/>
    <p:sldId id="283" r:id="rId22"/>
    <p:sldId id="284" r:id="rId23"/>
    <p:sldId id="286" r:id="rId24"/>
    <p:sldId id="28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D9DDB99D-E63D-4F11-A1DE-A9A2E0D6EFC4}" type="datetimeFigureOut">
              <a:rPr lang="en-US" smtClean="0"/>
              <a:t>11/4/2025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4145644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DDB99D-E63D-4F11-A1DE-A9A2E0D6E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3738169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9DDB99D-E63D-4F11-A1DE-A9A2E0D6E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1356065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DDB99D-E63D-4F11-A1DE-A9A2E0D6E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313003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DB99D-E63D-4F11-A1DE-A9A2E0D6E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355403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DDB99D-E63D-4F11-A1DE-A9A2E0D6E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1992110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DDB99D-E63D-4F11-A1DE-A9A2E0D6E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2810800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DDB99D-E63D-4F11-A1DE-A9A2E0D6E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406003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DDB99D-E63D-4F11-A1DE-A9A2E0D6E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2748122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DDB99D-E63D-4F11-A1DE-A9A2E0D6E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2097502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D9DDB99D-E63D-4F11-A1DE-A9A2E0D6E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3796491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D9DDB99D-E63D-4F11-A1DE-A9A2E0D6E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1648194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9DDB99D-E63D-4F11-A1DE-A9A2E0D6E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22690993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9DDB99D-E63D-4F11-A1DE-A9A2E0D6E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2055463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9DDB99D-E63D-4F11-A1DE-A9A2E0D6EFC4}" type="datetimeFigureOut">
              <a:rPr lang="en-US" smtClean="0"/>
              <a:t>11/4/2025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19189536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D9DDB99D-E63D-4F11-A1DE-A9A2E0D6E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60357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D9DDB99D-E63D-4F11-A1DE-A9A2E0D6E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F0D9508-C1F7-4562-BA94-0CF0B0F344E0}" type="slidenum">
              <a:rPr lang="en-US" smtClean="0"/>
              <a:t>‹#›</a:t>
            </a:fld>
            <a:endParaRPr lang="en-US"/>
          </a:p>
        </p:txBody>
      </p:sp>
    </p:spTree>
    <p:extLst>
      <p:ext uri="{BB962C8B-B14F-4D97-AF65-F5344CB8AC3E}">
        <p14:creationId xmlns:p14="http://schemas.microsoft.com/office/powerpoint/2010/main" val="1573633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D9DDB99D-E63D-4F11-A1DE-A9A2E0D6EFC4}" type="datetimeFigureOut">
              <a:rPr lang="en-US" smtClean="0"/>
              <a:t>11/4/2025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F0D9508-C1F7-4562-BA94-0CF0B0F344E0}" type="slidenum">
              <a:rPr lang="en-US" smtClean="0"/>
              <a:t>‹#›</a:t>
            </a:fld>
            <a:endParaRPr lang="en-US"/>
          </a:p>
        </p:txBody>
      </p:sp>
    </p:spTree>
    <p:extLst>
      <p:ext uri="{BB962C8B-B14F-4D97-AF65-F5344CB8AC3E}">
        <p14:creationId xmlns:p14="http://schemas.microsoft.com/office/powerpoint/2010/main" val="294763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8463" y="567276"/>
            <a:ext cx="8825658" cy="2677648"/>
          </a:xfrm>
        </p:spPr>
        <p:txBody>
          <a:bodyPr/>
          <a:lstStyle/>
          <a:p>
            <a:pPr algn="ctr"/>
            <a:r>
              <a:rPr lang="en-US" sz="4000" dirty="0"/>
              <a:t>“INTRODUCTION TO QUEUING SYSTEM”</a:t>
            </a:r>
          </a:p>
        </p:txBody>
      </p:sp>
      <p:sp>
        <p:nvSpPr>
          <p:cNvPr id="3" name="Subtitle 2"/>
          <p:cNvSpPr>
            <a:spLocks noGrp="1"/>
          </p:cNvSpPr>
          <p:nvPr>
            <p:ph type="subTitle" idx="1"/>
          </p:nvPr>
        </p:nvSpPr>
        <p:spPr>
          <a:xfrm>
            <a:off x="9189422" y="5822409"/>
            <a:ext cx="2493062" cy="408574"/>
          </a:xfrm>
        </p:spPr>
        <p:txBody>
          <a:bodyPr>
            <a:noAutofit/>
          </a:bodyPr>
          <a:lstStyle/>
          <a:p>
            <a:r>
              <a:rPr lang="en-US" sz="2000" dirty="0" err="1"/>
              <a:t>leC</a:t>
            </a:r>
            <a:r>
              <a:rPr lang="en-US" sz="2000" dirty="0"/>
              <a:t> # 03, 04 &amp; 05</a:t>
            </a:r>
          </a:p>
        </p:txBody>
      </p:sp>
      <p:sp>
        <p:nvSpPr>
          <p:cNvPr id="5" name="TextBox 4">
            <a:extLst>
              <a:ext uri="{FF2B5EF4-FFF2-40B4-BE49-F238E27FC236}">
                <a16:creationId xmlns:a16="http://schemas.microsoft.com/office/drawing/2014/main" id="{BF85D111-852D-BD39-7377-C773B13799BF}"/>
              </a:ext>
            </a:extLst>
          </p:cNvPr>
          <p:cNvSpPr txBox="1"/>
          <p:nvPr/>
        </p:nvSpPr>
        <p:spPr>
          <a:xfrm>
            <a:off x="8391964" y="3933502"/>
            <a:ext cx="3804313" cy="1200329"/>
          </a:xfrm>
          <a:prstGeom prst="rect">
            <a:avLst/>
          </a:prstGeom>
          <a:noFill/>
        </p:spPr>
        <p:txBody>
          <a:bodyPr wrap="square">
            <a:spAutoFit/>
          </a:bodyPr>
          <a:lstStyle/>
          <a:p>
            <a:r>
              <a:rPr lang="en-US" dirty="0"/>
              <a:t>Engr. Nazaruddin</a:t>
            </a:r>
          </a:p>
          <a:p>
            <a:r>
              <a:rPr lang="en-US" dirty="0"/>
              <a:t>Department of Biomedical Engineering, BUET(Khuzdar)</a:t>
            </a:r>
          </a:p>
          <a:p>
            <a:r>
              <a:rPr lang="en-US" dirty="0"/>
              <a:t>nazar@buetk.edu.pk</a:t>
            </a:r>
          </a:p>
        </p:txBody>
      </p:sp>
    </p:spTree>
    <p:extLst>
      <p:ext uri="{BB962C8B-B14F-4D97-AF65-F5344CB8AC3E}">
        <p14:creationId xmlns:p14="http://schemas.microsoft.com/office/powerpoint/2010/main" val="253009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4"/>
          <p:cNvSpPr>
            <a:spLocks noGrp="1"/>
          </p:cNvSpPr>
          <p:nvPr>
            <p:ph type="sldNum" sz="quarter" idx="12"/>
          </p:nvPr>
        </p:nvSpPr>
        <p:spPr>
          <a:xfrm>
            <a:off x="7822474" y="6230983"/>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4106AC8-FF61-4A8B-88FA-1F298135BD0C}" type="slidenum">
              <a:rPr lang="en-US" altLang="en-US" sz="1200">
                <a:solidFill>
                  <a:schemeClr val="folHlink"/>
                </a:solidFill>
              </a:rPr>
              <a:pPr/>
              <a:t>2</a:t>
            </a:fld>
            <a:endParaRPr lang="en-US" altLang="en-US" sz="1200" dirty="0">
              <a:solidFill>
                <a:schemeClr val="folHlink"/>
              </a:solidFill>
            </a:endParaRPr>
          </a:p>
        </p:txBody>
      </p:sp>
      <p:sp>
        <p:nvSpPr>
          <p:cNvPr id="4" name="Rectangle 3"/>
          <p:cNvSpPr>
            <a:spLocks noChangeArrowheads="1"/>
          </p:cNvSpPr>
          <p:nvPr/>
        </p:nvSpPr>
        <p:spPr bwMode="auto">
          <a:xfrm>
            <a:off x="1497874" y="439783"/>
            <a:ext cx="7848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dirty="0">
                <a:solidFill>
                  <a:schemeClr val="accent6">
                    <a:lumMod val="75000"/>
                  </a:schemeClr>
                </a:solidFill>
                <a:latin typeface="+mj-lt"/>
              </a:rPr>
              <a:t>“Definition of a queueing system”</a:t>
            </a:r>
          </a:p>
        </p:txBody>
      </p:sp>
      <p:pic>
        <p:nvPicPr>
          <p:cNvPr id="5"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9687" y="1746296"/>
            <a:ext cx="40005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Connecteur droit avec flèche 18"/>
          <p:cNvCxnSpPr>
            <a:cxnSpLocks noChangeShapeType="1"/>
          </p:cNvCxnSpPr>
          <p:nvPr/>
        </p:nvCxnSpPr>
        <p:spPr bwMode="auto">
          <a:xfrm>
            <a:off x="2147162" y="2035221"/>
            <a:ext cx="1152525"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 name="Connecteur droit avec flèche 20"/>
          <p:cNvCxnSpPr>
            <a:cxnSpLocks noChangeShapeType="1"/>
          </p:cNvCxnSpPr>
          <p:nvPr/>
        </p:nvCxnSpPr>
        <p:spPr bwMode="auto">
          <a:xfrm>
            <a:off x="7260499" y="2035221"/>
            <a:ext cx="1152525"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 name="ZoneTexte 21"/>
          <p:cNvSpPr txBox="1">
            <a:spLocks noChangeArrowheads="1"/>
          </p:cNvSpPr>
          <p:nvPr/>
        </p:nvSpPr>
        <p:spPr bwMode="auto">
          <a:xfrm>
            <a:off x="1203188" y="1746296"/>
            <a:ext cx="1439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800" b="1" dirty="0"/>
              <a:t>Customer arrivals</a:t>
            </a:r>
          </a:p>
        </p:txBody>
      </p:sp>
      <p:sp>
        <p:nvSpPr>
          <p:cNvPr id="9" name="ZoneTexte 22"/>
          <p:cNvSpPr txBox="1">
            <a:spLocks noChangeArrowheads="1"/>
          </p:cNvSpPr>
          <p:nvPr/>
        </p:nvSpPr>
        <p:spPr bwMode="auto">
          <a:xfrm>
            <a:off x="2867887" y="2754358"/>
            <a:ext cx="24479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n-US" sz="1800" b="1" dirty="0" err="1"/>
              <a:t>Departure</a:t>
            </a:r>
            <a:r>
              <a:rPr lang="fr-FR" altLang="en-US" sz="1800" b="1" dirty="0"/>
              <a:t> of impatient </a:t>
            </a:r>
            <a:r>
              <a:rPr lang="fr-FR" altLang="en-US" sz="1800" b="1" dirty="0" err="1"/>
              <a:t>customers</a:t>
            </a:r>
            <a:endParaRPr lang="fr-FR" altLang="en-US" sz="1800" b="1" dirty="0"/>
          </a:p>
        </p:txBody>
      </p:sp>
      <p:sp>
        <p:nvSpPr>
          <p:cNvPr id="10" name="ZoneTexte 23"/>
          <p:cNvSpPr txBox="1">
            <a:spLocks noChangeArrowheads="1"/>
          </p:cNvSpPr>
          <p:nvPr/>
        </p:nvSpPr>
        <p:spPr bwMode="auto">
          <a:xfrm>
            <a:off x="8374130" y="1712165"/>
            <a:ext cx="19446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fr-FR" altLang="en-US" sz="1800" b="1" dirty="0" err="1"/>
              <a:t>Departure</a:t>
            </a:r>
            <a:r>
              <a:rPr lang="fr-FR" altLang="en-US" sz="1800" b="1" dirty="0"/>
              <a:t> of </a:t>
            </a:r>
            <a:r>
              <a:rPr lang="fr-FR" altLang="en-US" sz="1800" b="1" dirty="0" err="1"/>
              <a:t>served</a:t>
            </a:r>
            <a:r>
              <a:rPr lang="fr-FR" altLang="en-US" sz="1800" b="1" dirty="0"/>
              <a:t> </a:t>
            </a:r>
            <a:r>
              <a:rPr lang="fr-FR" altLang="en-US" sz="1800" b="1" dirty="0" err="1"/>
              <a:t>customers</a:t>
            </a:r>
            <a:endParaRPr lang="fr-FR" altLang="en-US" sz="1800" b="1" dirty="0"/>
          </a:p>
        </p:txBody>
      </p:sp>
      <p:sp>
        <p:nvSpPr>
          <p:cNvPr id="11" name="Rectangle 10"/>
          <p:cNvSpPr/>
          <p:nvPr/>
        </p:nvSpPr>
        <p:spPr>
          <a:xfrm>
            <a:off x="796834" y="3764008"/>
            <a:ext cx="10633166" cy="2431435"/>
          </a:xfrm>
          <a:prstGeom prst="rect">
            <a:avLst/>
          </a:prstGeom>
        </p:spPr>
        <p:txBody>
          <a:bodyPr wrap="square">
            <a:spAutoFit/>
          </a:bodyPr>
          <a:lstStyle/>
          <a:p>
            <a:pPr marL="355600" indent="-355600">
              <a:buFont typeface="Arial" pitchFamily="34" charset="0"/>
              <a:buChar char="•"/>
              <a:defRPr/>
            </a:pPr>
            <a:r>
              <a:rPr lang="en-US" sz="2400" dirty="0">
                <a:solidFill>
                  <a:schemeClr val="accent1">
                    <a:lumMod val="60000"/>
                    <a:lumOff val="40000"/>
                  </a:schemeClr>
                </a:solidFill>
              </a:rPr>
              <a:t>A queuing system can be described as follows:</a:t>
            </a:r>
          </a:p>
          <a:p>
            <a:pPr marL="355600" indent="-355600">
              <a:buFont typeface="Arial" pitchFamily="34" charset="0"/>
              <a:buChar char="•"/>
              <a:defRPr/>
            </a:pPr>
            <a:endParaRPr lang="en-US" sz="2400" dirty="0">
              <a:solidFill>
                <a:schemeClr val="accent1">
                  <a:lumMod val="60000"/>
                  <a:lumOff val="40000"/>
                </a:schemeClr>
              </a:solidFill>
            </a:endParaRPr>
          </a:p>
          <a:p>
            <a:pPr marL="723900">
              <a:defRPr/>
            </a:pPr>
            <a:r>
              <a:rPr lang="en-US" sz="2800" dirty="0">
                <a:solidFill>
                  <a:schemeClr val="accent1">
                    <a:lumMod val="60000"/>
                    <a:lumOff val="40000"/>
                  </a:schemeClr>
                </a:solidFill>
              </a:rPr>
              <a:t>"customers arrive for a given service, wait if the service cannot start immediately and leave after being served"</a:t>
            </a:r>
          </a:p>
          <a:p>
            <a:pPr>
              <a:defRPr/>
            </a:pPr>
            <a:endParaRPr lang="en-US" sz="2400" dirty="0">
              <a:solidFill>
                <a:schemeClr val="accent1">
                  <a:lumMod val="60000"/>
                  <a:lumOff val="40000"/>
                </a:schemeClr>
              </a:solidFill>
            </a:endParaRPr>
          </a:p>
          <a:p>
            <a:pPr marL="355600" indent="-355600">
              <a:buFont typeface="Arial" pitchFamily="34" charset="0"/>
              <a:buChar char="•"/>
              <a:defRPr/>
            </a:pPr>
            <a:r>
              <a:rPr lang="en-US" sz="2400" dirty="0">
                <a:solidFill>
                  <a:schemeClr val="accent1">
                    <a:lumMod val="60000"/>
                    <a:lumOff val="40000"/>
                  </a:schemeClr>
                </a:solidFill>
              </a:rPr>
              <a:t>The term "customer" can be men, products, machines, ...</a:t>
            </a:r>
          </a:p>
        </p:txBody>
      </p:sp>
    </p:spTree>
    <p:extLst>
      <p:ext uri="{BB962C8B-B14F-4D97-AF65-F5344CB8AC3E}">
        <p14:creationId xmlns:p14="http://schemas.microsoft.com/office/powerpoint/2010/main" val="1674900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6248" y="2081741"/>
            <a:ext cx="9583073" cy="461665"/>
          </a:xfrm>
          <a:prstGeom prst="rect">
            <a:avLst/>
          </a:prstGeom>
        </p:spPr>
        <p:txBody>
          <a:bodyPr wrap="none">
            <a:spAutoFit/>
          </a:bodyPr>
          <a:lstStyle/>
          <a:p>
            <a:r>
              <a:rPr lang="en-US" sz="2400" b="0" i="0" dirty="0">
                <a:solidFill>
                  <a:schemeClr val="accent1">
                    <a:lumMod val="60000"/>
                    <a:lumOff val="40000"/>
                  </a:schemeClr>
                </a:solidFill>
                <a:effectLst/>
              </a:rPr>
              <a:t>Figure 1: shows the elements of a single queue queuing system:</a:t>
            </a:r>
            <a:endParaRPr lang="en-US" sz="2400" dirty="0">
              <a:solidFill>
                <a:schemeClr val="accent1">
                  <a:lumMod val="60000"/>
                  <a:lumOff val="40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1931" y="2658242"/>
            <a:ext cx="6467731" cy="3886250"/>
          </a:xfrm>
          <a:prstGeom prst="rect">
            <a:avLst/>
          </a:prstGeom>
        </p:spPr>
      </p:pic>
      <p:sp>
        <p:nvSpPr>
          <p:cNvPr id="5" name="TextBox 4"/>
          <p:cNvSpPr txBox="1"/>
          <p:nvPr/>
        </p:nvSpPr>
        <p:spPr>
          <a:xfrm>
            <a:off x="3108470" y="832180"/>
            <a:ext cx="5440592" cy="954107"/>
          </a:xfrm>
          <a:prstGeom prst="rect">
            <a:avLst/>
          </a:prstGeom>
          <a:noFill/>
        </p:spPr>
        <p:txBody>
          <a:bodyPr wrap="square" rtlCol="0">
            <a:spAutoFit/>
          </a:bodyPr>
          <a:lstStyle/>
          <a:p>
            <a:pPr algn="ctr"/>
            <a:r>
              <a:rPr lang="en-US" sz="2800" dirty="0">
                <a:solidFill>
                  <a:schemeClr val="accent6">
                    <a:lumMod val="75000"/>
                  </a:schemeClr>
                </a:solidFill>
              </a:rPr>
              <a:t>Elements/Components  of Queuing System:</a:t>
            </a:r>
          </a:p>
        </p:txBody>
      </p:sp>
    </p:spTree>
    <p:extLst>
      <p:ext uri="{BB962C8B-B14F-4D97-AF65-F5344CB8AC3E}">
        <p14:creationId xmlns:p14="http://schemas.microsoft.com/office/powerpoint/2010/main" val="3909239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264" y="1553701"/>
            <a:ext cx="10450286" cy="3231654"/>
          </a:xfrm>
          <a:prstGeom prst="rect">
            <a:avLst/>
          </a:prstGeom>
        </p:spPr>
        <p:txBody>
          <a:bodyPr wrap="square">
            <a:spAutoFit/>
          </a:bodyPr>
          <a:lstStyle/>
          <a:p>
            <a:pPr algn="ctr"/>
            <a:r>
              <a:rPr lang="en-US" sz="2000" b="1" i="0" dirty="0">
                <a:solidFill>
                  <a:schemeClr val="accent6">
                    <a:lumMod val="75000"/>
                  </a:schemeClr>
                </a:solidFill>
                <a:effectLst/>
              </a:rPr>
              <a:t>-</a:t>
            </a:r>
            <a:r>
              <a:rPr lang="en-US" sz="2400" b="1" i="0" u="sng" dirty="0">
                <a:solidFill>
                  <a:schemeClr val="accent6">
                    <a:lumMod val="75000"/>
                  </a:schemeClr>
                </a:solidFill>
                <a:effectLst/>
              </a:rPr>
              <a:t>Population of Customers:</a:t>
            </a:r>
          </a:p>
          <a:p>
            <a:pPr algn="just"/>
            <a:endParaRPr lang="en-US" sz="2000" b="1" i="0" dirty="0">
              <a:solidFill>
                <a:schemeClr val="accent1">
                  <a:lumMod val="60000"/>
                  <a:lumOff val="40000"/>
                </a:schemeClr>
              </a:solidFill>
              <a:effectLst/>
            </a:endParaRPr>
          </a:p>
          <a:p>
            <a:pPr algn="just"/>
            <a:r>
              <a:rPr lang="en-US" sz="2000" b="1" dirty="0">
                <a:solidFill>
                  <a:schemeClr val="accent1">
                    <a:lumMod val="60000"/>
                    <a:lumOff val="40000"/>
                  </a:schemeClr>
                </a:solidFill>
              </a:rPr>
              <a:t>	</a:t>
            </a:r>
            <a:r>
              <a:rPr lang="en-US" sz="2000" dirty="0">
                <a:solidFill>
                  <a:schemeClr val="accent1">
                    <a:lumMod val="60000"/>
                    <a:lumOff val="40000"/>
                  </a:schemeClr>
                </a:solidFill>
              </a:rPr>
              <a:t>It</a:t>
            </a:r>
            <a:r>
              <a:rPr lang="en-US" sz="2000" b="1" i="0" dirty="0">
                <a:solidFill>
                  <a:schemeClr val="accent1">
                    <a:lumMod val="60000"/>
                    <a:lumOff val="40000"/>
                  </a:schemeClr>
                </a:solidFill>
                <a:effectLst/>
              </a:rPr>
              <a:t> </a:t>
            </a:r>
            <a:r>
              <a:rPr lang="en-US" sz="2000" b="0" i="0" dirty="0">
                <a:solidFill>
                  <a:schemeClr val="accent1">
                    <a:lumMod val="60000"/>
                    <a:lumOff val="40000"/>
                  </a:schemeClr>
                </a:solidFill>
                <a:effectLst/>
              </a:rPr>
              <a:t>can be considered either limited (closed systems) or unlimited (open systems). Unlimited population represents a theoretical model of systems with a large number of possible customers (a bank on a busy street, a motorway petrol station). Example of a limited population may be a number of processes to be run (served) by a computer or a certain number of machines to be repaired by a service man. It is necessary to take the term "customer" very generally. Customers may be people, machines of various nature, computer processes, telephone calls, etc.</a:t>
            </a:r>
            <a:endParaRPr lang="en-US" sz="2000" dirty="0">
              <a:solidFill>
                <a:schemeClr val="accent1">
                  <a:lumMod val="60000"/>
                  <a:lumOff val="40000"/>
                </a:schemeClr>
              </a:solidFill>
            </a:endParaRPr>
          </a:p>
        </p:txBody>
      </p:sp>
    </p:spTree>
    <p:extLst>
      <p:ext uri="{BB962C8B-B14F-4D97-AF65-F5344CB8AC3E}">
        <p14:creationId xmlns:p14="http://schemas.microsoft.com/office/powerpoint/2010/main" val="3661068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2331" y="2371635"/>
            <a:ext cx="10541726" cy="1631216"/>
          </a:xfrm>
          <a:prstGeom prst="rect">
            <a:avLst/>
          </a:prstGeom>
        </p:spPr>
        <p:txBody>
          <a:bodyPr wrap="square">
            <a:spAutoFit/>
          </a:bodyPr>
          <a:lstStyle/>
          <a:p>
            <a:pPr algn="ctr"/>
            <a:r>
              <a:rPr lang="en-US" sz="2400" b="1" i="0" u="sng" dirty="0">
                <a:solidFill>
                  <a:schemeClr val="accent6">
                    <a:lumMod val="75000"/>
                  </a:schemeClr>
                </a:solidFill>
                <a:effectLst/>
              </a:rPr>
              <a:t>-</a:t>
            </a:r>
            <a:r>
              <a:rPr lang="en-US" sz="2800" b="1" i="0" u="sng" dirty="0">
                <a:solidFill>
                  <a:schemeClr val="accent6">
                    <a:lumMod val="75000"/>
                  </a:schemeClr>
                </a:solidFill>
                <a:effectLst/>
              </a:rPr>
              <a:t>Arrival</a:t>
            </a:r>
          </a:p>
          <a:p>
            <a:endParaRPr lang="en-US" b="1" dirty="0">
              <a:solidFill>
                <a:schemeClr val="accent1">
                  <a:lumMod val="60000"/>
                  <a:lumOff val="40000"/>
                </a:schemeClr>
              </a:solidFill>
            </a:endParaRPr>
          </a:p>
          <a:p>
            <a:pPr algn="just"/>
            <a:r>
              <a:rPr lang="en-US" dirty="0">
                <a:solidFill>
                  <a:schemeClr val="accent1">
                    <a:lumMod val="60000"/>
                    <a:lumOff val="40000"/>
                  </a:schemeClr>
                </a:solidFill>
              </a:rPr>
              <a:t>It</a:t>
            </a:r>
            <a:r>
              <a:rPr lang="en-US" b="1" i="0" dirty="0">
                <a:solidFill>
                  <a:schemeClr val="accent1">
                    <a:lumMod val="60000"/>
                    <a:lumOff val="40000"/>
                  </a:schemeClr>
                </a:solidFill>
                <a:effectLst/>
              </a:rPr>
              <a:t> </a:t>
            </a:r>
            <a:r>
              <a:rPr lang="en-US" b="0" i="0" dirty="0">
                <a:solidFill>
                  <a:schemeClr val="accent1">
                    <a:lumMod val="60000"/>
                    <a:lumOff val="40000"/>
                  </a:schemeClr>
                </a:solidFill>
                <a:effectLst/>
              </a:rPr>
              <a:t>defines the way customers enter the system. Mostly the arrivals are random with random intervals between two adjacent arrivals. Typically the arrival is described by a random distribution of intervals also called </a:t>
            </a:r>
            <a:r>
              <a:rPr lang="en-US" b="0" i="1" dirty="0">
                <a:solidFill>
                  <a:schemeClr val="accent1">
                    <a:lumMod val="60000"/>
                    <a:lumOff val="40000"/>
                  </a:schemeClr>
                </a:solidFill>
                <a:effectLst/>
              </a:rPr>
              <a:t>Arrival Pattern</a:t>
            </a:r>
            <a:r>
              <a:rPr lang="en-US" b="0" i="0" dirty="0">
                <a:solidFill>
                  <a:schemeClr val="accent1">
                    <a:lumMod val="60000"/>
                    <a:lumOff val="40000"/>
                  </a:schemeClr>
                </a:solidFill>
                <a:effectLst/>
              </a:rPr>
              <a:t>.</a:t>
            </a:r>
            <a:endParaRPr lang="en-US" dirty="0">
              <a:solidFill>
                <a:schemeClr val="accent1">
                  <a:lumMod val="60000"/>
                  <a:lumOff val="40000"/>
                </a:schemeClr>
              </a:solidFill>
            </a:endParaRPr>
          </a:p>
        </p:txBody>
      </p:sp>
    </p:spTree>
    <p:extLst>
      <p:ext uri="{BB962C8B-B14F-4D97-AF65-F5344CB8AC3E}">
        <p14:creationId xmlns:p14="http://schemas.microsoft.com/office/powerpoint/2010/main" val="756169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9451" y="1922140"/>
            <a:ext cx="11116492" cy="2123658"/>
          </a:xfrm>
          <a:prstGeom prst="rect">
            <a:avLst/>
          </a:prstGeom>
        </p:spPr>
        <p:txBody>
          <a:bodyPr wrap="square">
            <a:spAutoFit/>
          </a:bodyPr>
          <a:lstStyle/>
          <a:p>
            <a:pPr algn="ctr"/>
            <a:r>
              <a:rPr lang="en-US" sz="2400" b="1" i="0" dirty="0">
                <a:solidFill>
                  <a:schemeClr val="accent6">
                    <a:lumMod val="75000"/>
                  </a:schemeClr>
                </a:solidFill>
                <a:effectLst/>
              </a:rPr>
              <a:t>-</a:t>
            </a:r>
            <a:r>
              <a:rPr lang="en-US" sz="2400" b="1" i="0" u="sng" dirty="0">
                <a:solidFill>
                  <a:schemeClr val="accent6">
                    <a:lumMod val="75000"/>
                  </a:schemeClr>
                </a:solidFill>
                <a:effectLst/>
              </a:rPr>
              <a:t>Queue</a:t>
            </a:r>
            <a:r>
              <a:rPr lang="en-US" sz="2400" b="1" i="0" u="sng" dirty="0">
                <a:solidFill>
                  <a:schemeClr val="accent1">
                    <a:lumMod val="60000"/>
                    <a:lumOff val="40000"/>
                  </a:schemeClr>
                </a:solidFill>
                <a:effectLst/>
              </a:rPr>
              <a:t>:</a:t>
            </a:r>
          </a:p>
          <a:p>
            <a:endParaRPr lang="en-US" b="1" dirty="0">
              <a:solidFill>
                <a:schemeClr val="accent1">
                  <a:lumMod val="60000"/>
                  <a:lumOff val="40000"/>
                </a:schemeClr>
              </a:solidFill>
            </a:endParaRPr>
          </a:p>
          <a:p>
            <a:r>
              <a:rPr lang="en-US" dirty="0">
                <a:solidFill>
                  <a:schemeClr val="accent1">
                    <a:lumMod val="60000"/>
                    <a:lumOff val="40000"/>
                  </a:schemeClr>
                </a:solidFill>
              </a:rPr>
              <a:t>It</a:t>
            </a:r>
            <a:r>
              <a:rPr lang="en-US" b="1" i="0" dirty="0">
                <a:solidFill>
                  <a:schemeClr val="accent1">
                    <a:lumMod val="60000"/>
                    <a:lumOff val="40000"/>
                  </a:schemeClr>
                </a:solidFill>
                <a:effectLst/>
              </a:rPr>
              <a:t> </a:t>
            </a:r>
            <a:r>
              <a:rPr lang="en-US" b="0" i="0" dirty="0">
                <a:solidFill>
                  <a:schemeClr val="accent1">
                    <a:lumMod val="60000"/>
                    <a:lumOff val="40000"/>
                  </a:schemeClr>
                </a:solidFill>
                <a:effectLst/>
              </a:rPr>
              <a:t>represents a certain number of customers waiting for service (of course the queue may be empty). Typically the customer being served is considered not to be in the queue. Sometimes the customers form a queue literally (people waiting in a line for a bank teller). Sometimes the queue is an abstraction (planes waiting for a runway to land). There are two important properties of a queue: </a:t>
            </a:r>
            <a:r>
              <a:rPr lang="en-US" b="0" i="1" dirty="0">
                <a:solidFill>
                  <a:schemeClr val="accent1">
                    <a:lumMod val="60000"/>
                    <a:lumOff val="40000"/>
                  </a:schemeClr>
                </a:solidFill>
                <a:effectLst/>
              </a:rPr>
              <a:t>Maximum Size </a:t>
            </a:r>
            <a:r>
              <a:rPr lang="en-US" b="0" i="0" dirty="0">
                <a:solidFill>
                  <a:schemeClr val="accent1">
                    <a:lumMod val="60000"/>
                    <a:lumOff val="40000"/>
                  </a:schemeClr>
                </a:solidFill>
                <a:effectLst/>
              </a:rPr>
              <a:t>and </a:t>
            </a:r>
            <a:r>
              <a:rPr lang="en-US" b="0" i="1" dirty="0">
                <a:solidFill>
                  <a:schemeClr val="accent1">
                    <a:lumMod val="60000"/>
                    <a:lumOff val="40000"/>
                  </a:schemeClr>
                </a:solidFill>
                <a:effectLst/>
              </a:rPr>
              <a:t>Queuing Discipline</a:t>
            </a:r>
            <a:r>
              <a:rPr lang="en-US" b="0" i="0" dirty="0">
                <a:solidFill>
                  <a:schemeClr val="accent1">
                    <a:lumMod val="60000"/>
                    <a:lumOff val="40000"/>
                  </a:schemeClr>
                </a:solidFill>
                <a:effectLst/>
              </a:rPr>
              <a:t>.</a:t>
            </a:r>
            <a:endParaRPr lang="en-US" dirty="0">
              <a:solidFill>
                <a:schemeClr val="accent1">
                  <a:lumMod val="60000"/>
                  <a:lumOff val="40000"/>
                </a:schemeClr>
              </a:solidFill>
            </a:endParaRPr>
          </a:p>
        </p:txBody>
      </p:sp>
    </p:spTree>
    <p:extLst>
      <p:ext uri="{BB962C8B-B14F-4D97-AF65-F5344CB8AC3E}">
        <p14:creationId xmlns:p14="http://schemas.microsoft.com/office/powerpoint/2010/main" val="1498824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691" y="1502229"/>
            <a:ext cx="11848012" cy="3785652"/>
          </a:xfrm>
          <a:prstGeom prst="rect">
            <a:avLst/>
          </a:prstGeom>
        </p:spPr>
        <p:txBody>
          <a:bodyPr wrap="square">
            <a:spAutoFit/>
          </a:bodyPr>
          <a:lstStyle/>
          <a:p>
            <a:pPr marL="342900" indent="-342900" algn="just">
              <a:buFont typeface="Arial" panose="020B0604020202020204" pitchFamily="34" charset="0"/>
              <a:buChar char="•"/>
            </a:pPr>
            <a:r>
              <a:rPr lang="en-US" sz="2000" b="0" i="1" dirty="0">
                <a:solidFill>
                  <a:schemeClr val="accent1">
                    <a:lumMod val="60000"/>
                    <a:lumOff val="40000"/>
                  </a:schemeClr>
                </a:solidFill>
                <a:effectLst/>
              </a:rPr>
              <a:t>Maximum Queue Size </a:t>
            </a:r>
            <a:r>
              <a:rPr lang="en-US" sz="2000" b="0" i="0" dirty="0">
                <a:solidFill>
                  <a:schemeClr val="accent1">
                    <a:lumMod val="60000"/>
                    <a:lumOff val="40000"/>
                  </a:schemeClr>
                </a:solidFill>
                <a:effectLst/>
              </a:rPr>
              <a:t>(also called </a:t>
            </a:r>
            <a:r>
              <a:rPr lang="en-US" sz="2000" b="0" i="1" dirty="0">
                <a:solidFill>
                  <a:schemeClr val="accent1">
                    <a:lumMod val="60000"/>
                    <a:lumOff val="40000"/>
                  </a:schemeClr>
                </a:solidFill>
                <a:effectLst/>
              </a:rPr>
              <a:t>System capacity</a:t>
            </a:r>
            <a:r>
              <a:rPr lang="en-US" sz="2000" b="0" i="0" dirty="0">
                <a:solidFill>
                  <a:schemeClr val="accent1">
                    <a:lumMod val="60000"/>
                    <a:lumOff val="40000"/>
                  </a:schemeClr>
                </a:solidFill>
                <a:effectLst/>
              </a:rPr>
              <a:t>) is the maximum number of customers that may wait in the queue (plus the one(s) being served). Queue is always limited, but some theoretical models assume an unlimited queue length. If the queue length is limited, some customers are forced to renounce without being served.</a:t>
            </a:r>
          </a:p>
          <a:p>
            <a:pPr algn="just"/>
            <a:endParaRPr lang="en-US" sz="2000" b="0" i="1" dirty="0">
              <a:solidFill>
                <a:schemeClr val="accent1">
                  <a:lumMod val="60000"/>
                  <a:lumOff val="40000"/>
                </a:schemeClr>
              </a:solidFill>
              <a:effectLst/>
            </a:endParaRPr>
          </a:p>
          <a:p>
            <a:pPr marL="342900" indent="-342900" algn="just">
              <a:buFont typeface="Arial" panose="020B0604020202020204" pitchFamily="34" charset="0"/>
              <a:buChar char="•"/>
            </a:pPr>
            <a:r>
              <a:rPr lang="en-US" sz="2000" b="0" i="1" dirty="0">
                <a:solidFill>
                  <a:schemeClr val="accent1">
                    <a:lumMod val="60000"/>
                    <a:lumOff val="40000"/>
                  </a:schemeClr>
                </a:solidFill>
                <a:effectLst/>
              </a:rPr>
              <a:t>Queuing Discipline</a:t>
            </a:r>
            <a:r>
              <a:rPr lang="en-US" sz="2000" b="0" i="0" dirty="0">
                <a:solidFill>
                  <a:schemeClr val="accent1">
                    <a:lumMod val="60000"/>
                    <a:lumOff val="40000"/>
                  </a:schemeClr>
                </a:solidFill>
                <a:effectLst/>
              </a:rPr>
              <a:t> represents the way the queue is organized (rules of inserting and removing customers to/from the queue). There are these ways:</a:t>
            </a:r>
          </a:p>
          <a:p>
            <a:pPr algn="just"/>
            <a:endParaRPr lang="en-US" sz="2000" b="0" i="0" dirty="0">
              <a:solidFill>
                <a:schemeClr val="accent1">
                  <a:lumMod val="60000"/>
                  <a:lumOff val="40000"/>
                </a:schemeClr>
              </a:solidFill>
              <a:effectLst/>
            </a:endParaRPr>
          </a:p>
          <a:p>
            <a:r>
              <a:rPr lang="en-US" sz="2000" b="0" i="0" dirty="0">
                <a:solidFill>
                  <a:schemeClr val="accent1">
                    <a:lumMod val="60000"/>
                    <a:lumOff val="40000"/>
                  </a:schemeClr>
                </a:solidFill>
                <a:effectLst/>
              </a:rPr>
              <a:t>1) FIFO (First In First Out) also called FCFS (First Come First Serve) - orderly queue.</a:t>
            </a:r>
          </a:p>
          <a:p>
            <a:r>
              <a:rPr lang="en-US" sz="2000" b="0" i="0" dirty="0">
                <a:solidFill>
                  <a:schemeClr val="accent1">
                    <a:lumMod val="60000"/>
                    <a:lumOff val="40000"/>
                  </a:schemeClr>
                </a:solidFill>
                <a:effectLst/>
              </a:rPr>
              <a:t>2) LIFO (Last In First Out) also called LCFS (Last Come First Serve) - stack.</a:t>
            </a:r>
          </a:p>
          <a:p>
            <a:r>
              <a:rPr lang="en-US" sz="2000" b="0" i="0" dirty="0">
                <a:solidFill>
                  <a:schemeClr val="accent1">
                    <a:lumMod val="60000"/>
                    <a:lumOff val="40000"/>
                  </a:schemeClr>
                </a:solidFill>
                <a:effectLst/>
              </a:rPr>
              <a:t>3) SIRO (Serve In Random Order).</a:t>
            </a:r>
          </a:p>
          <a:p>
            <a:r>
              <a:rPr lang="en-US" sz="2000" b="0" i="0" dirty="0">
                <a:solidFill>
                  <a:schemeClr val="accent1">
                    <a:lumMod val="60000"/>
                    <a:lumOff val="40000"/>
                  </a:schemeClr>
                </a:solidFill>
                <a:effectLst/>
              </a:rPr>
              <a:t>4) Priority Queue, that may be viewed as a number of queues for various priorities.</a:t>
            </a:r>
          </a:p>
        </p:txBody>
      </p:sp>
    </p:spTree>
    <p:extLst>
      <p:ext uri="{BB962C8B-B14F-4D97-AF65-F5344CB8AC3E}">
        <p14:creationId xmlns:p14="http://schemas.microsoft.com/office/powerpoint/2010/main" val="302557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885" y="1985556"/>
            <a:ext cx="11129554" cy="2677656"/>
          </a:xfrm>
          <a:prstGeom prst="rect">
            <a:avLst/>
          </a:prstGeom>
        </p:spPr>
        <p:txBody>
          <a:bodyPr wrap="square">
            <a:spAutoFit/>
          </a:bodyPr>
          <a:lstStyle/>
          <a:p>
            <a:pPr algn="ctr"/>
            <a:r>
              <a:rPr lang="en-US" sz="2400" b="1" i="0" dirty="0">
                <a:solidFill>
                  <a:schemeClr val="accent6">
                    <a:lumMod val="75000"/>
                  </a:schemeClr>
                </a:solidFill>
                <a:effectLst/>
              </a:rPr>
              <a:t>-</a:t>
            </a:r>
            <a:r>
              <a:rPr lang="en-US" sz="2400" b="1" i="0" u="sng" dirty="0">
                <a:solidFill>
                  <a:schemeClr val="accent6">
                    <a:lumMod val="75000"/>
                  </a:schemeClr>
                </a:solidFill>
                <a:effectLst/>
              </a:rPr>
              <a:t>Service:</a:t>
            </a:r>
          </a:p>
          <a:p>
            <a:pPr algn="just"/>
            <a:endParaRPr lang="en-US" sz="2400" b="1" i="0" u="sng" dirty="0">
              <a:solidFill>
                <a:schemeClr val="accent1">
                  <a:lumMod val="60000"/>
                  <a:lumOff val="40000"/>
                </a:schemeClr>
              </a:solidFill>
              <a:effectLst/>
            </a:endParaRPr>
          </a:p>
          <a:p>
            <a:pPr algn="just"/>
            <a:r>
              <a:rPr lang="en-US" sz="2000" dirty="0">
                <a:solidFill>
                  <a:schemeClr val="accent1">
                    <a:lumMod val="60000"/>
                    <a:lumOff val="40000"/>
                  </a:schemeClr>
                </a:solidFill>
              </a:rPr>
              <a:t>It</a:t>
            </a:r>
            <a:r>
              <a:rPr lang="en-US" sz="2000" b="0" i="0" dirty="0">
                <a:solidFill>
                  <a:schemeClr val="accent1">
                    <a:lumMod val="60000"/>
                    <a:lumOff val="40000"/>
                  </a:schemeClr>
                </a:solidFill>
                <a:effectLst/>
              </a:rPr>
              <a:t> represents some activity that takes time and that the customers are waiting for. Again take it very generally. It may be a real service carried on persons or machines</a:t>
            </a:r>
            <a:r>
              <a:rPr lang="en-US" sz="2000" dirty="0">
                <a:solidFill>
                  <a:schemeClr val="accent1">
                    <a:lumMod val="60000"/>
                    <a:lumOff val="40000"/>
                  </a:schemeClr>
                </a:solidFill>
              </a:rPr>
              <a:t>.</a:t>
            </a:r>
            <a:r>
              <a:rPr lang="en-US" sz="2000" b="0" i="0" dirty="0">
                <a:solidFill>
                  <a:schemeClr val="accent1">
                    <a:lumMod val="60000"/>
                    <a:lumOff val="40000"/>
                  </a:schemeClr>
                </a:solidFill>
                <a:effectLst/>
              </a:rPr>
              <a:t> Theoretical models are based on random distribution of service duration also called </a:t>
            </a:r>
            <a:r>
              <a:rPr lang="en-US" sz="2000" b="0" i="1" dirty="0">
                <a:solidFill>
                  <a:schemeClr val="accent1">
                    <a:lumMod val="60000"/>
                    <a:lumOff val="40000"/>
                  </a:schemeClr>
                </a:solidFill>
                <a:effectLst/>
              </a:rPr>
              <a:t>Service Pattern</a:t>
            </a:r>
            <a:r>
              <a:rPr lang="en-US" sz="2000" b="0" i="0" dirty="0">
                <a:solidFill>
                  <a:schemeClr val="accent1">
                    <a:lumMod val="60000"/>
                    <a:lumOff val="40000"/>
                  </a:schemeClr>
                </a:solidFill>
                <a:effectLst/>
              </a:rPr>
              <a:t>. Another important parameter is the number of servers. Systems with one server only are called </a:t>
            </a:r>
            <a:r>
              <a:rPr lang="en-US" sz="2000" b="0" i="1" dirty="0">
                <a:solidFill>
                  <a:schemeClr val="accent1">
                    <a:lumMod val="60000"/>
                    <a:lumOff val="40000"/>
                  </a:schemeClr>
                </a:solidFill>
                <a:effectLst/>
              </a:rPr>
              <a:t>Single Channel Systems</a:t>
            </a:r>
            <a:r>
              <a:rPr lang="en-US" sz="2000" b="0" i="0" dirty="0">
                <a:solidFill>
                  <a:schemeClr val="accent1">
                    <a:lumMod val="60000"/>
                    <a:lumOff val="40000"/>
                  </a:schemeClr>
                </a:solidFill>
                <a:effectLst/>
              </a:rPr>
              <a:t>, systems with more servers are called </a:t>
            </a:r>
            <a:r>
              <a:rPr lang="en-US" sz="2000" b="0" i="1" dirty="0">
                <a:solidFill>
                  <a:schemeClr val="accent1">
                    <a:lumMod val="60000"/>
                    <a:lumOff val="40000"/>
                  </a:schemeClr>
                </a:solidFill>
                <a:effectLst/>
              </a:rPr>
              <a:t>Multi Channel Systems</a:t>
            </a:r>
            <a:r>
              <a:rPr lang="en-US" sz="2000" b="0" i="0" dirty="0">
                <a:solidFill>
                  <a:srgbClr val="000000"/>
                </a:solidFill>
                <a:effectLst/>
              </a:rPr>
              <a:t>.</a:t>
            </a:r>
            <a:endParaRPr lang="en-US" sz="2000" dirty="0"/>
          </a:p>
        </p:txBody>
      </p:sp>
    </p:spTree>
    <p:extLst>
      <p:ext uri="{BB962C8B-B14F-4D97-AF65-F5344CB8AC3E}">
        <p14:creationId xmlns:p14="http://schemas.microsoft.com/office/powerpoint/2010/main" val="4294760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5691" y="2698206"/>
            <a:ext cx="10485120" cy="1600438"/>
          </a:xfrm>
          <a:prstGeom prst="rect">
            <a:avLst/>
          </a:prstGeom>
        </p:spPr>
        <p:txBody>
          <a:bodyPr wrap="square">
            <a:spAutoFit/>
          </a:bodyPr>
          <a:lstStyle/>
          <a:p>
            <a:pPr algn="ctr"/>
            <a:r>
              <a:rPr lang="en-US" b="1" i="0" dirty="0">
                <a:solidFill>
                  <a:schemeClr val="accent1">
                    <a:lumMod val="60000"/>
                    <a:lumOff val="40000"/>
                  </a:schemeClr>
                </a:solidFill>
                <a:effectLst/>
              </a:rPr>
              <a:t>-</a:t>
            </a:r>
            <a:r>
              <a:rPr lang="en-US" sz="2000" b="1" i="0" dirty="0">
                <a:solidFill>
                  <a:schemeClr val="accent6">
                    <a:lumMod val="75000"/>
                  </a:schemeClr>
                </a:solidFill>
                <a:effectLst/>
              </a:rPr>
              <a:t>Output</a:t>
            </a:r>
          </a:p>
          <a:p>
            <a:endParaRPr lang="en-US" dirty="0">
              <a:solidFill>
                <a:schemeClr val="accent1">
                  <a:lumMod val="60000"/>
                  <a:lumOff val="40000"/>
                </a:schemeClr>
              </a:solidFill>
            </a:endParaRPr>
          </a:p>
          <a:p>
            <a:pPr algn="just"/>
            <a:r>
              <a:rPr lang="en-US" dirty="0">
                <a:solidFill>
                  <a:schemeClr val="accent1">
                    <a:lumMod val="60000"/>
                    <a:lumOff val="40000"/>
                  </a:schemeClr>
                </a:solidFill>
              </a:rPr>
              <a:t>It</a:t>
            </a:r>
            <a:r>
              <a:rPr lang="en-US" sz="2000" b="1" i="0" dirty="0">
                <a:solidFill>
                  <a:schemeClr val="accent1">
                    <a:lumMod val="60000"/>
                    <a:lumOff val="40000"/>
                  </a:schemeClr>
                </a:solidFill>
                <a:effectLst/>
              </a:rPr>
              <a:t> </a:t>
            </a:r>
            <a:r>
              <a:rPr lang="en-US" sz="2000" b="0" i="0" dirty="0">
                <a:solidFill>
                  <a:schemeClr val="accent1">
                    <a:lumMod val="60000"/>
                    <a:lumOff val="40000"/>
                  </a:schemeClr>
                </a:solidFill>
                <a:effectLst/>
              </a:rPr>
              <a:t>represents the way customers leave the system. Output is mostly ignored by theoretical models, but sometimes the customers leaving the server enter the queue again ("round robin" time-sharing systems).</a:t>
            </a:r>
            <a:endParaRPr lang="en-US" dirty="0">
              <a:solidFill>
                <a:schemeClr val="accent1">
                  <a:lumMod val="60000"/>
                  <a:lumOff val="40000"/>
                </a:schemeClr>
              </a:solidFill>
            </a:endParaRPr>
          </a:p>
        </p:txBody>
      </p:sp>
    </p:spTree>
    <p:extLst>
      <p:ext uri="{BB962C8B-B14F-4D97-AF65-F5344CB8AC3E}">
        <p14:creationId xmlns:p14="http://schemas.microsoft.com/office/powerpoint/2010/main" val="7268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9542" y="710140"/>
            <a:ext cx="3905236" cy="523220"/>
          </a:xfrm>
          <a:prstGeom prst="rect">
            <a:avLst/>
          </a:prstGeom>
        </p:spPr>
        <p:txBody>
          <a:bodyPr wrap="none">
            <a:spAutoFit/>
          </a:bodyPr>
          <a:lstStyle/>
          <a:p>
            <a:pPr marL="457200" indent="-457200">
              <a:buFont typeface="Arial" panose="020B0604020202020204" pitchFamily="34" charset="0"/>
              <a:buChar char="•"/>
            </a:pPr>
            <a:r>
              <a:rPr lang="en-US" altLang="en-US" sz="2800" b="1" u="sng" dirty="0">
                <a:solidFill>
                  <a:schemeClr val="accent6">
                    <a:lumMod val="75000"/>
                  </a:schemeClr>
                </a:solidFill>
              </a:rPr>
              <a:t>Queue Parameters</a:t>
            </a:r>
            <a:endParaRPr lang="en-US" sz="2800" b="1" u="sng" dirty="0">
              <a:solidFill>
                <a:schemeClr val="accent6">
                  <a:lumMod val="75000"/>
                </a:schemeClr>
              </a:solidFill>
            </a:endParaRPr>
          </a:p>
        </p:txBody>
      </p:sp>
      <p:sp>
        <p:nvSpPr>
          <p:cNvPr id="3" name="Rectangle 2"/>
          <p:cNvSpPr/>
          <p:nvPr/>
        </p:nvSpPr>
        <p:spPr>
          <a:xfrm>
            <a:off x="1500584" y="2016258"/>
            <a:ext cx="6781268" cy="2246769"/>
          </a:xfrm>
          <a:prstGeom prst="rect">
            <a:avLst/>
          </a:prstGeom>
        </p:spPr>
        <p:txBody>
          <a:bodyPr wrap="square">
            <a:spAutoFit/>
          </a:bodyPr>
          <a:lstStyle/>
          <a:p>
            <a:pPr marL="514350" indent="-514350" algn="just">
              <a:buFont typeface="+mj-lt"/>
              <a:buAutoNum type="arabicPeriod"/>
            </a:pPr>
            <a:r>
              <a:rPr lang="en-US" altLang="en-US" sz="2800" dirty="0">
                <a:solidFill>
                  <a:schemeClr val="accent1">
                    <a:lumMod val="60000"/>
                    <a:lumOff val="40000"/>
                  </a:schemeClr>
                </a:solidFill>
              </a:rPr>
              <a:t>Arrival Process </a:t>
            </a:r>
          </a:p>
          <a:p>
            <a:pPr marL="514350" indent="-514350" algn="just">
              <a:buFont typeface="+mj-lt"/>
              <a:buAutoNum type="arabicPeriod"/>
            </a:pPr>
            <a:r>
              <a:rPr lang="en-US" altLang="en-US" sz="2800" dirty="0">
                <a:solidFill>
                  <a:schemeClr val="accent1">
                    <a:lumMod val="60000"/>
                    <a:lumOff val="40000"/>
                  </a:schemeClr>
                </a:solidFill>
              </a:rPr>
              <a:t>Queue Configuration</a:t>
            </a:r>
          </a:p>
          <a:p>
            <a:pPr marL="514350" indent="-514350" algn="just">
              <a:buFont typeface="+mj-lt"/>
              <a:buAutoNum type="arabicPeriod"/>
            </a:pPr>
            <a:r>
              <a:rPr lang="en-US" altLang="en-US" sz="2800" dirty="0">
                <a:solidFill>
                  <a:schemeClr val="accent1">
                    <a:lumMod val="60000"/>
                    <a:lumOff val="40000"/>
                  </a:schemeClr>
                </a:solidFill>
              </a:rPr>
              <a:t>Service Mechanism </a:t>
            </a:r>
          </a:p>
          <a:p>
            <a:pPr marL="514350" indent="-514350" algn="just">
              <a:buFont typeface="+mj-lt"/>
              <a:buAutoNum type="arabicPeriod"/>
            </a:pPr>
            <a:r>
              <a:rPr lang="en-US" altLang="en-US" sz="2800" dirty="0">
                <a:solidFill>
                  <a:schemeClr val="accent1">
                    <a:lumMod val="60000"/>
                    <a:lumOff val="40000"/>
                  </a:schemeClr>
                </a:solidFill>
              </a:rPr>
              <a:t>Queue Discipline </a:t>
            </a:r>
          </a:p>
          <a:p>
            <a:pPr marL="514350" indent="-514350" algn="just">
              <a:buFont typeface="+mj-lt"/>
              <a:buAutoNum type="arabicPeriod"/>
            </a:pPr>
            <a:r>
              <a:rPr lang="en-US" altLang="en-US" sz="2800" dirty="0">
                <a:solidFill>
                  <a:schemeClr val="accent1">
                    <a:lumMod val="60000"/>
                    <a:lumOff val="40000"/>
                  </a:schemeClr>
                </a:solidFill>
              </a:rPr>
              <a:t>Number of Servers </a:t>
            </a:r>
          </a:p>
        </p:txBody>
      </p:sp>
    </p:spTree>
    <p:extLst>
      <p:ext uri="{BB962C8B-B14F-4D97-AF65-F5344CB8AC3E}">
        <p14:creationId xmlns:p14="http://schemas.microsoft.com/office/powerpoint/2010/main" val="2724672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2630213"/>
            <a:ext cx="10646229" cy="1938992"/>
          </a:xfrm>
          <a:prstGeom prst="rect">
            <a:avLst/>
          </a:prstGeom>
        </p:spPr>
        <p:txBody>
          <a:bodyPr wrap="square">
            <a:spAutoFit/>
          </a:bodyPr>
          <a:lstStyle/>
          <a:p>
            <a:pPr marL="342900" indent="-342900" algn="just">
              <a:buFont typeface="Arial" panose="020B0604020202020204" pitchFamily="34" charset="0"/>
              <a:buChar char="•"/>
            </a:pPr>
            <a:r>
              <a:rPr lang="en-US" altLang="en-US" sz="2400" dirty="0">
                <a:solidFill>
                  <a:schemeClr val="accent2"/>
                </a:solidFill>
              </a:rPr>
              <a:t>Determines how, when and where customer/jobs arrive to the system.</a:t>
            </a:r>
          </a:p>
          <a:p>
            <a:pPr algn="just"/>
            <a:endParaRPr lang="en-US" altLang="en-US" sz="2400" dirty="0">
              <a:solidFill>
                <a:schemeClr val="accent2"/>
              </a:solidFill>
            </a:endParaRPr>
          </a:p>
          <a:p>
            <a:pPr marL="342900" indent="-342900" algn="just">
              <a:buFont typeface="Arial" panose="020B0604020202020204" pitchFamily="34" charset="0"/>
              <a:buChar char="•"/>
            </a:pPr>
            <a:r>
              <a:rPr lang="en-US" altLang="en-US" sz="2400" dirty="0">
                <a:solidFill>
                  <a:schemeClr val="accent2"/>
                </a:solidFill>
              </a:rPr>
              <a:t>Important characteristic is the customers’/jobs’ inter-arrival times.</a:t>
            </a:r>
          </a:p>
          <a:p>
            <a:pPr algn="just"/>
            <a:endParaRPr lang="en-US" altLang="en-US" sz="2400" dirty="0">
              <a:solidFill>
                <a:schemeClr val="accent2"/>
              </a:solidFill>
            </a:endParaRPr>
          </a:p>
        </p:txBody>
      </p:sp>
      <p:sp>
        <p:nvSpPr>
          <p:cNvPr id="3" name="Rectangle 2"/>
          <p:cNvSpPr/>
          <p:nvPr/>
        </p:nvSpPr>
        <p:spPr>
          <a:xfrm>
            <a:off x="4093664" y="1598414"/>
            <a:ext cx="2696572" cy="461665"/>
          </a:xfrm>
          <a:prstGeom prst="rect">
            <a:avLst/>
          </a:prstGeom>
        </p:spPr>
        <p:txBody>
          <a:bodyPr wrap="none">
            <a:spAutoFit/>
          </a:bodyPr>
          <a:lstStyle/>
          <a:p>
            <a:r>
              <a:rPr lang="en-US" altLang="en-US" sz="2400" b="1" u="sng" dirty="0">
                <a:solidFill>
                  <a:schemeClr val="accent6">
                    <a:lumMod val="75000"/>
                  </a:schemeClr>
                </a:solidFill>
              </a:rPr>
              <a:t>1. Arrival Process</a:t>
            </a:r>
            <a:endParaRPr lang="en-US" sz="2400" u="sng" dirty="0">
              <a:solidFill>
                <a:schemeClr val="accent6">
                  <a:lumMod val="75000"/>
                </a:schemeClr>
              </a:solidFill>
            </a:endParaRPr>
          </a:p>
        </p:txBody>
      </p:sp>
    </p:spTree>
    <p:extLst>
      <p:ext uri="{BB962C8B-B14F-4D97-AF65-F5344CB8AC3E}">
        <p14:creationId xmlns:p14="http://schemas.microsoft.com/office/powerpoint/2010/main" val="4282774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8692" y="866894"/>
            <a:ext cx="4256293" cy="461665"/>
          </a:xfrm>
          <a:prstGeom prst="rect">
            <a:avLst/>
          </a:prstGeom>
        </p:spPr>
        <p:txBody>
          <a:bodyPr wrap="none">
            <a:spAutoFit/>
          </a:bodyPr>
          <a:lstStyle/>
          <a:p>
            <a:r>
              <a:rPr lang="en-US" altLang="en-US" sz="2400" b="1" u="sng" dirty="0">
                <a:solidFill>
                  <a:schemeClr val="accent6">
                    <a:lumMod val="75000"/>
                  </a:schemeClr>
                </a:solidFill>
              </a:rPr>
              <a:t>2. The Queue Configuration</a:t>
            </a:r>
            <a:endParaRPr lang="en-US" sz="2400" u="sng" dirty="0">
              <a:solidFill>
                <a:schemeClr val="accent6">
                  <a:lumMod val="75000"/>
                </a:schemeClr>
              </a:solidFill>
            </a:endParaRPr>
          </a:p>
        </p:txBody>
      </p:sp>
      <p:sp>
        <p:nvSpPr>
          <p:cNvPr id="3" name="Rectangle 2"/>
          <p:cNvSpPr/>
          <p:nvPr/>
        </p:nvSpPr>
        <p:spPr>
          <a:xfrm>
            <a:off x="1108712" y="2155673"/>
            <a:ext cx="9196251" cy="2369880"/>
          </a:xfrm>
          <a:prstGeom prst="rect">
            <a:avLst/>
          </a:prstGeom>
        </p:spPr>
        <p:txBody>
          <a:bodyPr wrap="square">
            <a:spAutoFit/>
          </a:bodyPr>
          <a:lstStyle/>
          <a:p>
            <a:pPr>
              <a:buFont typeface="Wingdings" panose="05000000000000000000" pitchFamily="2" charset="2"/>
              <a:buChar char="v"/>
            </a:pPr>
            <a:r>
              <a:rPr lang="en-US" altLang="en-US" sz="2400" dirty="0">
                <a:solidFill>
                  <a:schemeClr val="accent1">
                    <a:lumMod val="60000"/>
                    <a:lumOff val="40000"/>
                  </a:schemeClr>
                </a:solidFill>
              </a:rPr>
              <a:t>The queue configuration</a:t>
            </a:r>
          </a:p>
          <a:p>
            <a:endParaRPr lang="en-US" altLang="en-US" sz="2400" dirty="0">
              <a:solidFill>
                <a:schemeClr val="accent1">
                  <a:lumMod val="60000"/>
                  <a:lumOff val="40000"/>
                </a:schemeClr>
              </a:solidFill>
            </a:endParaRPr>
          </a:p>
          <a:p>
            <a:pPr marL="800100" lvl="1" indent="-342900">
              <a:buFont typeface="Arial" panose="020B0604020202020204" pitchFamily="34" charset="0"/>
              <a:buChar char="•"/>
            </a:pPr>
            <a:r>
              <a:rPr lang="en-US" altLang="en-US" sz="2000" dirty="0">
                <a:solidFill>
                  <a:schemeClr val="accent1">
                    <a:lumMod val="60000"/>
                    <a:lumOff val="40000"/>
                  </a:schemeClr>
                </a:solidFill>
              </a:rPr>
              <a:t>Specifies the number of queues</a:t>
            </a:r>
          </a:p>
          <a:p>
            <a:pPr marL="800100" lvl="1" indent="-342900">
              <a:buFont typeface="Arial" panose="020B0604020202020204" pitchFamily="34" charset="0"/>
              <a:buChar char="•"/>
            </a:pPr>
            <a:r>
              <a:rPr lang="en-US" altLang="en-US" sz="2000" dirty="0">
                <a:solidFill>
                  <a:schemeClr val="accent1">
                    <a:lumMod val="60000"/>
                    <a:lumOff val="40000"/>
                  </a:schemeClr>
                </a:solidFill>
              </a:rPr>
              <a:t>Single or multiple lines to a number of service stations </a:t>
            </a:r>
          </a:p>
          <a:p>
            <a:pPr marL="800100" lvl="1" indent="-342900">
              <a:buFont typeface="Arial" panose="020B0604020202020204" pitchFamily="34" charset="0"/>
              <a:buChar char="•"/>
            </a:pPr>
            <a:r>
              <a:rPr lang="en-US" altLang="en-US" sz="2000" dirty="0">
                <a:solidFill>
                  <a:schemeClr val="accent1">
                    <a:lumMod val="60000"/>
                    <a:lumOff val="40000"/>
                  </a:schemeClr>
                </a:solidFill>
              </a:rPr>
              <a:t>Their location</a:t>
            </a:r>
          </a:p>
          <a:p>
            <a:pPr marL="800100" lvl="1" indent="-342900">
              <a:buFont typeface="Arial" panose="020B0604020202020204" pitchFamily="34" charset="0"/>
              <a:buChar char="•"/>
            </a:pPr>
            <a:r>
              <a:rPr lang="en-US" altLang="en-US" sz="2000" dirty="0">
                <a:solidFill>
                  <a:schemeClr val="accent1">
                    <a:lumMod val="60000"/>
                    <a:lumOff val="40000"/>
                  </a:schemeClr>
                </a:solidFill>
              </a:rPr>
              <a:t>Their effect on customer behavior</a:t>
            </a:r>
          </a:p>
          <a:p>
            <a:pPr marL="800100" lvl="1" indent="-342900">
              <a:buFont typeface="Arial" panose="020B0604020202020204" pitchFamily="34" charset="0"/>
              <a:buChar char="•"/>
            </a:pPr>
            <a:r>
              <a:rPr lang="en-US" altLang="en-US" sz="2000" dirty="0">
                <a:solidFill>
                  <a:schemeClr val="accent1">
                    <a:lumMod val="60000"/>
                    <a:lumOff val="40000"/>
                  </a:schemeClr>
                </a:solidFill>
              </a:rPr>
              <a:t>Their maximum size (# of customer the queue can hold) </a:t>
            </a:r>
          </a:p>
        </p:txBody>
      </p:sp>
    </p:spTree>
    <p:extLst>
      <p:ext uri="{BB962C8B-B14F-4D97-AF65-F5344CB8AC3E}">
        <p14:creationId xmlns:p14="http://schemas.microsoft.com/office/powerpoint/2010/main" val="963138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5892" y="657888"/>
            <a:ext cx="4336444" cy="369332"/>
          </a:xfrm>
          <a:prstGeom prst="rect">
            <a:avLst/>
          </a:prstGeom>
        </p:spPr>
        <p:txBody>
          <a:bodyPr wrap="none">
            <a:spAutoFit/>
          </a:bodyPr>
          <a:lstStyle/>
          <a:p>
            <a:pPr algn="ctr">
              <a:spcBef>
                <a:spcPct val="0"/>
              </a:spcBef>
            </a:pPr>
            <a:r>
              <a:rPr lang="en-US" altLang="en-US" b="1" dirty="0">
                <a:solidFill>
                  <a:schemeClr val="tx2"/>
                </a:solidFill>
              </a:rPr>
              <a:t>Example – Two Queue Configurations</a:t>
            </a:r>
          </a:p>
        </p:txBody>
      </p:sp>
      <p:pic>
        <p:nvPicPr>
          <p:cNvPr id="3" name="Picture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668" y="1241199"/>
            <a:ext cx="8745583" cy="4915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6725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75579" y="670951"/>
            <a:ext cx="4052713" cy="461665"/>
          </a:xfrm>
          <a:prstGeom prst="rect">
            <a:avLst/>
          </a:prstGeom>
        </p:spPr>
        <p:txBody>
          <a:bodyPr wrap="none">
            <a:spAutoFit/>
          </a:bodyPr>
          <a:lstStyle/>
          <a:p>
            <a:pPr algn="ctr"/>
            <a:r>
              <a:rPr lang="en-US" altLang="en-US" sz="2400" b="1" u="sng" dirty="0">
                <a:solidFill>
                  <a:schemeClr val="accent6">
                    <a:lumMod val="75000"/>
                  </a:schemeClr>
                </a:solidFill>
              </a:rPr>
              <a:t>3. The Service Mechanism</a:t>
            </a:r>
            <a:endParaRPr lang="en-US" sz="2400" u="sng" dirty="0">
              <a:solidFill>
                <a:schemeClr val="accent6">
                  <a:lumMod val="75000"/>
                </a:schemeClr>
              </a:solidFill>
            </a:endParaRPr>
          </a:p>
        </p:txBody>
      </p:sp>
      <p:sp>
        <p:nvSpPr>
          <p:cNvPr id="3" name="Rectangle 2"/>
          <p:cNvSpPr/>
          <p:nvPr/>
        </p:nvSpPr>
        <p:spPr>
          <a:xfrm>
            <a:off x="300445" y="2212411"/>
            <a:ext cx="11573692" cy="3416320"/>
          </a:xfrm>
          <a:prstGeom prst="rect">
            <a:avLst/>
          </a:prstGeom>
        </p:spPr>
        <p:txBody>
          <a:bodyPr wrap="square">
            <a:spAutoFit/>
          </a:bodyPr>
          <a:lstStyle/>
          <a:p>
            <a:pPr marL="514350" indent="-514350">
              <a:buFont typeface="+mj-lt"/>
              <a:buAutoNum type="arabicPeriod"/>
            </a:pPr>
            <a:r>
              <a:rPr lang="en-US" altLang="en-US" sz="2400" dirty="0">
                <a:solidFill>
                  <a:schemeClr val="accent1">
                    <a:lumMod val="60000"/>
                    <a:lumOff val="40000"/>
                  </a:schemeClr>
                </a:solidFill>
              </a:rPr>
              <a:t>Can involve one or several service facilities  with one or several parallel service channels (servers) - Specification is required.</a:t>
            </a:r>
          </a:p>
          <a:p>
            <a:endParaRPr lang="en-US" altLang="en-US" sz="2400" dirty="0">
              <a:solidFill>
                <a:schemeClr val="accent1">
                  <a:lumMod val="60000"/>
                  <a:lumOff val="40000"/>
                </a:schemeClr>
              </a:solidFill>
            </a:endParaRPr>
          </a:p>
          <a:p>
            <a:r>
              <a:rPr lang="en-US" altLang="en-US" sz="2400" dirty="0">
                <a:solidFill>
                  <a:schemeClr val="accent1">
                    <a:lumMod val="60000"/>
                    <a:lumOff val="40000"/>
                  </a:schemeClr>
                </a:solidFill>
              </a:rPr>
              <a:t>2. The service provided by a server is characterized by its service time.</a:t>
            </a:r>
          </a:p>
          <a:p>
            <a:endParaRPr lang="en-US" altLang="en-US" sz="2400" dirty="0">
              <a:solidFill>
                <a:schemeClr val="accent1">
                  <a:lumMod val="60000"/>
                  <a:lumOff val="40000"/>
                </a:schemeClr>
              </a:solidFill>
            </a:endParaRPr>
          </a:p>
          <a:p>
            <a:r>
              <a:rPr lang="en-US" altLang="en-US" sz="2400" dirty="0">
                <a:solidFill>
                  <a:schemeClr val="accent1">
                    <a:lumMod val="60000"/>
                    <a:lumOff val="40000"/>
                  </a:schemeClr>
                </a:solidFill>
              </a:rPr>
              <a:t>3. Specification is required and typically involves data gathering and statistical analysis.</a:t>
            </a:r>
          </a:p>
          <a:p>
            <a:pPr lvl="1"/>
            <a:endParaRPr lang="en-US" altLang="en-US" sz="2400" dirty="0">
              <a:solidFill>
                <a:schemeClr val="accent1">
                  <a:lumMod val="60000"/>
                  <a:lumOff val="40000"/>
                </a:schemeClr>
              </a:solidFill>
            </a:endParaRPr>
          </a:p>
          <a:p>
            <a:pPr lvl="1"/>
            <a:r>
              <a:rPr lang="en-US" altLang="en-US" sz="2400" dirty="0">
                <a:solidFill>
                  <a:schemeClr val="accent1">
                    <a:lumMod val="60000"/>
                    <a:lumOff val="40000"/>
                  </a:schemeClr>
                </a:solidFill>
              </a:rPr>
              <a:t>	</a:t>
            </a:r>
            <a:endParaRPr lang="en-US" altLang="en-US" sz="2000" dirty="0">
              <a:solidFill>
                <a:schemeClr val="accent1">
                  <a:lumMod val="60000"/>
                  <a:lumOff val="40000"/>
                </a:schemeClr>
              </a:solidFill>
            </a:endParaRPr>
          </a:p>
        </p:txBody>
      </p:sp>
    </p:spTree>
    <p:extLst>
      <p:ext uri="{BB962C8B-B14F-4D97-AF65-F5344CB8AC3E}">
        <p14:creationId xmlns:p14="http://schemas.microsoft.com/office/powerpoint/2010/main" val="385011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49871" y="814642"/>
            <a:ext cx="3645550" cy="523220"/>
          </a:xfrm>
          <a:prstGeom prst="rect">
            <a:avLst/>
          </a:prstGeom>
        </p:spPr>
        <p:txBody>
          <a:bodyPr wrap="none">
            <a:spAutoFit/>
          </a:bodyPr>
          <a:lstStyle/>
          <a:p>
            <a:r>
              <a:rPr lang="en-US" altLang="en-US" sz="2800" b="1" u="sng" dirty="0">
                <a:solidFill>
                  <a:schemeClr val="accent6">
                    <a:lumMod val="75000"/>
                  </a:schemeClr>
                </a:solidFill>
              </a:rPr>
              <a:t>4. Queue Discipline </a:t>
            </a:r>
            <a:endParaRPr lang="en-US" sz="2800" u="sng" dirty="0">
              <a:solidFill>
                <a:schemeClr val="accent6">
                  <a:lumMod val="75000"/>
                </a:schemeClr>
              </a:solidFill>
            </a:endParaRPr>
          </a:p>
        </p:txBody>
      </p:sp>
      <p:sp>
        <p:nvSpPr>
          <p:cNvPr id="3" name="Rectangle 2"/>
          <p:cNvSpPr/>
          <p:nvPr/>
        </p:nvSpPr>
        <p:spPr>
          <a:xfrm>
            <a:off x="679269" y="2151727"/>
            <a:ext cx="10789920" cy="2308324"/>
          </a:xfrm>
          <a:prstGeom prst="rect">
            <a:avLst/>
          </a:prstGeom>
        </p:spPr>
        <p:txBody>
          <a:bodyPr wrap="square">
            <a:spAutoFit/>
          </a:bodyPr>
          <a:lstStyle/>
          <a:p>
            <a:pPr marL="457200" indent="-457200">
              <a:buFont typeface="Arial" panose="020B0604020202020204" pitchFamily="34" charset="0"/>
              <a:buChar char="•"/>
            </a:pPr>
            <a:r>
              <a:rPr lang="en-US" altLang="en-US" sz="2400" dirty="0">
                <a:solidFill>
                  <a:schemeClr val="accent2"/>
                </a:solidFill>
              </a:rPr>
              <a:t>Specifies the order by which jobs in the queue are being served.</a:t>
            </a:r>
          </a:p>
          <a:p>
            <a:pPr marL="457200" indent="-457200">
              <a:buFont typeface="Arial" panose="020B0604020202020204" pitchFamily="34" charset="0"/>
              <a:buChar char="•"/>
            </a:pPr>
            <a:endParaRPr lang="en-US" altLang="en-US" sz="2400" dirty="0">
              <a:solidFill>
                <a:schemeClr val="accent2"/>
              </a:solidFill>
            </a:endParaRPr>
          </a:p>
          <a:p>
            <a:pPr lvl="1"/>
            <a:r>
              <a:rPr lang="en-US" altLang="en-US" sz="2400" dirty="0">
                <a:solidFill>
                  <a:schemeClr val="accent2"/>
                </a:solidFill>
              </a:rPr>
              <a:t>-First Come First Served (FCFS)</a:t>
            </a:r>
          </a:p>
          <a:p>
            <a:pPr lvl="1"/>
            <a:r>
              <a:rPr lang="en-US" altLang="en-US" sz="2400" dirty="0">
                <a:solidFill>
                  <a:schemeClr val="accent2"/>
                </a:solidFill>
              </a:rPr>
              <a:t>-Shortest Processing Time (SPT)</a:t>
            </a:r>
          </a:p>
          <a:p>
            <a:pPr lvl="1"/>
            <a:r>
              <a:rPr lang="en-US" altLang="en-US" sz="2400" dirty="0">
                <a:solidFill>
                  <a:schemeClr val="accent2"/>
                </a:solidFill>
              </a:rPr>
              <a:t>-Earliest Due Date (EDD)</a:t>
            </a:r>
          </a:p>
          <a:p>
            <a:pPr lvl="1"/>
            <a:r>
              <a:rPr lang="en-US" altLang="en-US" sz="2400" dirty="0">
                <a:solidFill>
                  <a:schemeClr val="accent2"/>
                </a:solidFill>
              </a:rPr>
              <a:t>-Priority</a:t>
            </a:r>
          </a:p>
        </p:txBody>
      </p:sp>
    </p:spTree>
    <p:extLst>
      <p:ext uri="{BB962C8B-B14F-4D97-AF65-F5344CB8AC3E}">
        <p14:creationId xmlns:p14="http://schemas.microsoft.com/office/powerpoint/2010/main" val="1578630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49706" y="577729"/>
            <a:ext cx="5923416" cy="461665"/>
          </a:xfrm>
          <a:prstGeom prst="rect">
            <a:avLst/>
          </a:prstGeom>
        </p:spPr>
        <p:txBody>
          <a:bodyPr wrap="none">
            <a:spAutoFit/>
          </a:bodyPr>
          <a:lstStyle/>
          <a:p>
            <a:pPr marL="342900" indent="-342900">
              <a:buFont typeface="Arial" panose="020B0604020202020204" pitchFamily="34" charset="0"/>
              <a:buChar char="•"/>
            </a:pPr>
            <a:r>
              <a:rPr lang="en-US" altLang="en-US" sz="2400" b="1" u="sng" dirty="0">
                <a:solidFill>
                  <a:schemeClr val="accent6">
                    <a:lumMod val="75000"/>
                  </a:schemeClr>
                </a:solidFill>
              </a:rPr>
              <a:t>Characteristics of a Queuing System</a:t>
            </a:r>
            <a:endParaRPr lang="en-US" sz="2400" b="1" u="sng" dirty="0">
              <a:solidFill>
                <a:schemeClr val="accent6">
                  <a:lumMod val="75000"/>
                </a:schemeClr>
              </a:solidFill>
            </a:endParaRPr>
          </a:p>
        </p:txBody>
      </p:sp>
      <p:sp>
        <p:nvSpPr>
          <p:cNvPr id="69" name="Rectangle 3"/>
          <p:cNvSpPr txBox="1">
            <a:spLocks noChangeArrowheads="1"/>
          </p:cNvSpPr>
          <p:nvPr/>
        </p:nvSpPr>
        <p:spPr>
          <a:xfrm>
            <a:off x="1205998" y="1430524"/>
            <a:ext cx="8153400" cy="51816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defRPr/>
            </a:pPr>
            <a:r>
              <a:rPr lang="en-US" dirty="0">
                <a:solidFill>
                  <a:schemeClr val="accent1">
                    <a:lumMod val="60000"/>
                    <a:lumOff val="40000"/>
                  </a:schemeClr>
                </a:solidFill>
              </a:rPr>
              <a:t>Four basic queuing system configurations</a:t>
            </a:r>
            <a:endParaRPr lang="en-US" i="1" dirty="0">
              <a:solidFill>
                <a:schemeClr val="accent1">
                  <a:lumMod val="60000"/>
                  <a:lumOff val="40000"/>
                </a:schemeClr>
              </a:solidFill>
              <a:effectLst>
                <a:outerShdw blurRad="38100" dist="38100" dir="2700000" algn="tl">
                  <a:srgbClr val="C0C0C0"/>
                </a:outerShdw>
              </a:effectLst>
            </a:endParaRPr>
          </a:p>
          <a:p>
            <a:pPr>
              <a:defRPr/>
            </a:pPr>
            <a:endParaRPr lang="en-US" altLang="en-US" dirty="0"/>
          </a:p>
        </p:txBody>
      </p:sp>
      <p:grpSp>
        <p:nvGrpSpPr>
          <p:cNvPr id="76" name="Group 42"/>
          <p:cNvGrpSpPr>
            <a:grpSpLocks/>
          </p:cNvGrpSpPr>
          <p:nvPr/>
        </p:nvGrpSpPr>
        <p:grpSpPr bwMode="auto">
          <a:xfrm>
            <a:off x="1760494" y="2713440"/>
            <a:ext cx="7742372" cy="2407126"/>
            <a:chOff x="726" y="978"/>
            <a:chExt cx="4304" cy="1246"/>
          </a:xfrm>
        </p:grpSpPr>
        <p:sp>
          <p:nvSpPr>
            <p:cNvPr id="77" name="Text Box 26"/>
            <p:cNvSpPr txBox="1">
              <a:spLocks noChangeArrowheads="1"/>
            </p:cNvSpPr>
            <p:nvPr/>
          </p:nvSpPr>
          <p:spPr bwMode="auto">
            <a:xfrm>
              <a:off x="1736" y="978"/>
              <a:ext cx="2174"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dirty="0">
                  <a:solidFill>
                    <a:schemeClr val="accent1">
                      <a:lumMod val="60000"/>
                      <a:lumOff val="40000"/>
                    </a:schemeClr>
                  </a:solidFill>
                </a:rPr>
                <a:t>1. Single-Channel, Single-Phase System</a:t>
              </a:r>
            </a:p>
          </p:txBody>
        </p:sp>
        <p:grpSp>
          <p:nvGrpSpPr>
            <p:cNvPr id="78" name="Group 41"/>
            <p:cNvGrpSpPr>
              <a:grpSpLocks/>
            </p:cNvGrpSpPr>
            <p:nvPr/>
          </p:nvGrpSpPr>
          <p:grpSpPr bwMode="auto">
            <a:xfrm>
              <a:off x="726" y="1463"/>
              <a:ext cx="4304" cy="761"/>
              <a:chOff x="726" y="1463"/>
              <a:chExt cx="4304" cy="761"/>
            </a:xfrm>
          </p:grpSpPr>
          <p:sp>
            <p:nvSpPr>
              <p:cNvPr id="79" name="Rectangle 37"/>
              <p:cNvSpPr>
                <a:spLocks noChangeArrowheads="1"/>
              </p:cNvSpPr>
              <p:nvPr/>
            </p:nvSpPr>
            <p:spPr bwMode="auto">
              <a:xfrm>
                <a:off x="1336" y="1472"/>
                <a:ext cx="2696" cy="752"/>
              </a:xfrm>
              <a:prstGeom prst="rect">
                <a:avLst/>
              </a:prstGeom>
              <a:solidFill>
                <a:srgbClr val="BBE2EE"/>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80" name="Oval 5"/>
              <p:cNvSpPr>
                <a:spLocks noChangeArrowheads="1"/>
              </p:cNvSpPr>
              <p:nvPr/>
            </p:nvSpPr>
            <p:spPr bwMode="auto">
              <a:xfrm>
                <a:off x="1536" y="1668"/>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81" name="Oval 6"/>
              <p:cNvSpPr>
                <a:spLocks noChangeArrowheads="1"/>
              </p:cNvSpPr>
              <p:nvPr/>
            </p:nvSpPr>
            <p:spPr bwMode="auto">
              <a:xfrm>
                <a:off x="2092" y="1668"/>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82" name="Line 15"/>
              <p:cNvSpPr>
                <a:spLocks noChangeShapeType="1"/>
              </p:cNvSpPr>
              <p:nvPr/>
            </p:nvSpPr>
            <p:spPr bwMode="auto">
              <a:xfrm>
                <a:off x="1256" y="1868"/>
                <a:ext cx="27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 name="Line 21"/>
              <p:cNvSpPr>
                <a:spLocks noChangeShapeType="1"/>
              </p:cNvSpPr>
              <p:nvPr/>
            </p:nvSpPr>
            <p:spPr bwMode="auto">
              <a:xfrm>
                <a:off x="3784" y="1868"/>
                <a:ext cx="456"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4" name="Line 22"/>
              <p:cNvSpPr>
                <a:spLocks noChangeShapeType="1"/>
              </p:cNvSpPr>
              <p:nvPr/>
            </p:nvSpPr>
            <p:spPr bwMode="auto">
              <a:xfrm>
                <a:off x="3008" y="1868"/>
                <a:ext cx="27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5" name="Text Box 23"/>
              <p:cNvSpPr txBox="1">
                <a:spLocks noChangeArrowheads="1"/>
              </p:cNvSpPr>
              <p:nvPr/>
            </p:nvSpPr>
            <p:spPr bwMode="auto">
              <a:xfrm>
                <a:off x="726" y="1772"/>
                <a:ext cx="5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1400">
                    <a:solidFill>
                      <a:schemeClr val="accent1"/>
                    </a:solidFill>
                    <a:effectLst>
                      <a:outerShdw blurRad="38100" dist="38100" dir="2700000" algn="tl">
                        <a:srgbClr val="C0C0C0"/>
                      </a:outerShdw>
                    </a:effectLst>
                  </a:rPr>
                  <a:t>Arrivals</a:t>
                </a:r>
              </a:p>
            </p:txBody>
          </p:sp>
          <p:sp>
            <p:nvSpPr>
              <p:cNvPr id="86" name="Text Box 24"/>
              <p:cNvSpPr txBox="1">
                <a:spLocks noChangeArrowheads="1"/>
              </p:cNvSpPr>
              <p:nvPr/>
            </p:nvSpPr>
            <p:spPr bwMode="auto">
              <a:xfrm>
                <a:off x="4214" y="1718"/>
                <a:ext cx="81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defRPr/>
                </a:pPr>
                <a:r>
                  <a:rPr lang="en-US" sz="1400">
                    <a:solidFill>
                      <a:schemeClr val="accent1"/>
                    </a:solidFill>
                    <a:effectLst>
                      <a:outerShdw blurRad="38100" dist="38100" dir="2700000" algn="tl">
                        <a:srgbClr val="C0C0C0"/>
                      </a:outerShdw>
                    </a:effectLst>
                  </a:rPr>
                  <a:t>Departures after Service</a:t>
                </a:r>
              </a:p>
            </p:txBody>
          </p:sp>
          <p:sp>
            <p:nvSpPr>
              <p:cNvPr id="87" name="Text Box 25"/>
              <p:cNvSpPr txBox="1">
                <a:spLocks noChangeArrowheads="1"/>
              </p:cNvSpPr>
              <p:nvPr/>
            </p:nvSpPr>
            <p:spPr bwMode="auto">
              <a:xfrm>
                <a:off x="1910" y="1463"/>
                <a:ext cx="4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Queue</a:t>
                </a:r>
              </a:p>
            </p:txBody>
          </p:sp>
          <p:grpSp>
            <p:nvGrpSpPr>
              <p:cNvPr id="88" name="Group 36"/>
              <p:cNvGrpSpPr>
                <a:grpSpLocks/>
              </p:cNvGrpSpPr>
              <p:nvPr/>
            </p:nvGrpSpPr>
            <p:grpSpPr bwMode="auto">
              <a:xfrm>
                <a:off x="3262" y="1624"/>
                <a:ext cx="609" cy="488"/>
                <a:chOff x="3358" y="1672"/>
                <a:chExt cx="609" cy="488"/>
              </a:xfrm>
            </p:grpSpPr>
            <p:sp>
              <p:nvSpPr>
                <p:cNvPr id="90" name="Rectangle 12"/>
                <p:cNvSpPr>
                  <a:spLocks noChangeArrowheads="1"/>
                </p:cNvSpPr>
                <p:nvPr/>
              </p:nvSpPr>
              <p:spPr bwMode="auto">
                <a:xfrm>
                  <a:off x="3383" y="1672"/>
                  <a:ext cx="560" cy="488"/>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91" name="Text Box 32"/>
                <p:cNvSpPr txBox="1">
                  <a:spLocks noChangeArrowheads="1"/>
                </p:cNvSpPr>
                <p:nvPr/>
              </p:nvSpPr>
              <p:spPr bwMode="auto">
                <a:xfrm>
                  <a:off x="3358" y="1766"/>
                  <a:ext cx="609"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a:t>Service Facility</a:t>
                  </a:r>
                </a:p>
              </p:txBody>
            </p:sp>
          </p:grpSp>
          <p:sp>
            <p:nvSpPr>
              <p:cNvPr id="89" name="Oval 7"/>
              <p:cNvSpPr>
                <a:spLocks noChangeArrowheads="1"/>
              </p:cNvSpPr>
              <p:nvPr/>
            </p:nvSpPr>
            <p:spPr bwMode="auto">
              <a:xfrm>
                <a:off x="2648" y="1668"/>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spTree>
    <p:extLst>
      <p:ext uri="{BB962C8B-B14F-4D97-AF65-F5344CB8AC3E}">
        <p14:creationId xmlns:p14="http://schemas.microsoft.com/office/powerpoint/2010/main" val="147825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76"/>
                                        </p:tgtEl>
                                        <p:attrNameLst>
                                          <p:attrName>style.visibility</p:attrName>
                                        </p:attrNameLst>
                                      </p:cBhvr>
                                      <p:to>
                                        <p:strVal val="visible"/>
                                      </p:to>
                                    </p:set>
                                    <p:animEffect transition="in" filter="wipe(left)">
                                      <p:cBhvr>
                                        <p:cTn id="7" dur="10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p:cNvGrpSpPr>
            <a:grpSpLocks/>
          </p:cNvGrpSpPr>
          <p:nvPr/>
        </p:nvGrpSpPr>
        <p:grpSpPr bwMode="auto">
          <a:xfrm>
            <a:off x="1704874" y="1572199"/>
            <a:ext cx="8064500" cy="2401888"/>
            <a:chOff x="318" y="1902"/>
            <a:chExt cx="5080" cy="1513"/>
          </a:xfrm>
        </p:grpSpPr>
        <p:sp>
          <p:nvSpPr>
            <p:cNvPr id="3" name="Rectangle 38"/>
            <p:cNvSpPr>
              <a:spLocks noChangeArrowheads="1"/>
            </p:cNvSpPr>
            <p:nvPr/>
          </p:nvSpPr>
          <p:spPr bwMode="auto">
            <a:xfrm>
              <a:off x="975" y="2663"/>
              <a:ext cx="3520" cy="752"/>
            </a:xfrm>
            <a:prstGeom prst="rect">
              <a:avLst/>
            </a:prstGeom>
            <a:solidFill>
              <a:srgbClr val="BBE2EE"/>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4" name="Oval 8"/>
            <p:cNvSpPr>
              <a:spLocks noChangeArrowheads="1"/>
            </p:cNvSpPr>
            <p:nvPr/>
          </p:nvSpPr>
          <p:spPr bwMode="auto">
            <a:xfrm>
              <a:off x="1136" y="2882"/>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5" name="Oval 9"/>
            <p:cNvSpPr>
              <a:spLocks noChangeArrowheads="1"/>
            </p:cNvSpPr>
            <p:nvPr/>
          </p:nvSpPr>
          <p:spPr bwMode="auto">
            <a:xfrm>
              <a:off x="1628" y="2882"/>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6" name="Line 16"/>
            <p:cNvSpPr>
              <a:spLocks noChangeShapeType="1"/>
            </p:cNvSpPr>
            <p:nvPr/>
          </p:nvSpPr>
          <p:spPr bwMode="auto">
            <a:xfrm>
              <a:off x="4280" y="3082"/>
              <a:ext cx="39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Line 17"/>
            <p:cNvSpPr>
              <a:spLocks noChangeShapeType="1"/>
            </p:cNvSpPr>
            <p:nvPr/>
          </p:nvSpPr>
          <p:spPr bwMode="auto">
            <a:xfrm>
              <a:off x="3608" y="3082"/>
              <a:ext cx="27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18"/>
            <p:cNvSpPr>
              <a:spLocks noChangeShapeType="1"/>
            </p:cNvSpPr>
            <p:nvPr/>
          </p:nvSpPr>
          <p:spPr bwMode="auto">
            <a:xfrm>
              <a:off x="3008" y="3082"/>
              <a:ext cx="27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9"/>
            <p:cNvSpPr>
              <a:spLocks noChangeShapeType="1"/>
            </p:cNvSpPr>
            <p:nvPr/>
          </p:nvSpPr>
          <p:spPr bwMode="auto">
            <a:xfrm>
              <a:off x="2376" y="3082"/>
              <a:ext cx="27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20"/>
            <p:cNvSpPr>
              <a:spLocks noChangeShapeType="1"/>
            </p:cNvSpPr>
            <p:nvPr/>
          </p:nvSpPr>
          <p:spPr bwMode="auto">
            <a:xfrm>
              <a:off x="816" y="3082"/>
              <a:ext cx="31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Text Box 28"/>
            <p:cNvSpPr txBox="1">
              <a:spLocks noChangeArrowheads="1"/>
            </p:cNvSpPr>
            <p:nvPr/>
          </p:nvSpPr>
          <p:spPr bwMode="auto">
            <a:xfrm>
              <a:off x="1556" y="1902"/>
              <a:ext cx="235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dirty="0">
                  <a:solidFill>
                    <a:schemeClr val="accent1">
                      <a:lumMod val="60000"/>
                      <a:lumOff val="40000"/>
                    </a:schemeClr>
                  </a:solidFill>
                </a:rPr>
                <a:t>2. Single-Channel, Multiphase System</a:t>
              </a:r>
            </a:p>
          </p:txBody>
        </p:sp>
        <p:sp>
          <p:nvSpPr>
            <p:cNvPr id="12" name="Text Box 29"/>
            <p:cNvSpPr txBox="1">
              <a:spLocks noChangeArrowheads="1"/>
            </p:cNvSpPr>
            <p:nvPr/>
          </p:nvSpPr>
          <p:spPr bwMode="auto">
            <a:xfrm>
              <a:off x="318" y="2986"/>
              <a:ext cx="5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1400">
                  <a:solidFill>
                    <a:schemeClr val="accent1"/>
                  </a:solidFill>
                  <a:effectLst>
                    <a:outerShdw blurRad="38100" dist="38100" dir="2700000" algn="tl">
                      <a:srgbClr val="C0C0C0"/>
                    </a:outerShdw>
                  </a:effectLst>
                </a:rPr>
                <a:t>Arrivals</a:t>
              </a:r>
            </a:p>
          </p:txBody>
        </p:sp>
        <p:sp>
          <p:nvSpPr>
            <p:cNvPr id="13" name="Text Box 30"/>
            <p:cNvSpPr txBox="1">
              <a:spLocks noChangeArrowheads="1"/>
            </p:cNvSpPr>
            <p:nvPr/>
          </p:nvSpPr>
          <p:spPr bwMode="auto">
            <a:xfrm>
              <a:off x="4654" y="2872"/>
              <a:ext cx="744"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defRPr/>
              </a:pPr>
              <a:r>
                <a:rPr lang="en-US" sz="1400">
                  <a:solidFill>
                    <a:schemeClr val="accent1"/>
                  </a:solidFill>
                  <a:effectLst>
                    <a:outerShdw blurRad="38100" dist="38100" dir="2700000" algn="tl">
                      <a:srgbClr val="C0C0C0"/>
                    </a:outerShdw>
                  </a:effectLst>
                </a:rPr>
                <a:t>Departures after Service</a:t>
              </a:r>
            </a:p>
          </p:txBody>
        </p:sp>
        <p:sp>
          <p:nvSpPr>
            <p:cNvPr id="14" name="Text Box 31"/>
            <p:cNvSpPr txBox="1">
              <a:spLocks noChangeArrowheads="1"/>
            </p:cNvSpPr>
            <p:nvPr/>
          </p:nvSpPr>
          <p:spPr bwMode="auto">
            <a:xfrm>
              <a:off x="1534" y="2679"/>
              <a:ext cx="4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Queue</a:t>
              </a:r>
            </a:p>
          </p:txBody>
        </p:sp>
        <p:sp>
          <p:nvSpPr>
            <p:cNvPr id="15" name="Rectangle 13"/>
            <p:cNvSpPr>
              <a:spLocks noChangeArrowheads="1"/>
            </p:cNvSpPr>
            <p:nvPr/>
          </p:nvSpPr>
          <p:spPr bwMode="auto">
            <a:xfrm>
              <a:off x="2656" y="2850"/>
              <a:ext cx="480" cy="464"/>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16" name="Text Box 33"/>
            <p:cNvSpPr txBox="1">
              <a:spLocks noChangeArrowheads="1"/>
            </p:cNvSpPr>
            <p:nvPr/>
          </p:nvSpPr>
          <p:spPr bwMode="auto">
            <a:xfrm>
              <a:off x="2591" y="2872"/>
              <a:ext cx="60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dirty="0"/>
                <a:t>Type 1 Service Facility</a:t>
              </a:r>
            </a:p>
          </p:txBody>
        </p:sp>
        <p:grpSp>
          <p:nvGrpSpPr>
            <p:cNvPr id="17" name="Group 35"/>
            <p:cNvGrpSpPr>
              <a:grpSpLocks/>
            </p:cNvGrpSpPr>
            <p:nvPr/>
          </p:nvGrpSpPr>
          <p:grpSpPr bwMode="auto">
            <a:xfrm>
              <a:off x="3823" y="2850"/>
              <a:ext cx="609" cy="464"/>
              <a:chOff x="3823" y="2850"/>
              <a:chExt cx="609" cy="464"/>
            </a:xfrm>
          </p:grpSpPr>
          <p:sp>
            <p:nvSpPr>
              <p:cNvPr id="20" name="Rectangle 14"/>
              <p:cNvSpPr>
                <a:spLocks noChangeArrowheads="1"/>
              </p:cNvSpPr>
              <p:nvPr/>
            </p:nvSpPr>
            <p:spPr bwMode="auto">
              <a:xfrm>
                <a:off x="3887" y="2850"/>
                <a:ext cx="480" cy="464"/>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21" name="Text Box 34"/>
              <p:cNvSpPr txBox="1">
                <a:spLocks noChangeArrowheads="1"/>
              </p:cNvSpPr>
              <p:nvPr/>
            </p:nvSpPr>
            <p:spPr bwMode="auto">
              <a:xfrm>
                <a:off x="3823" y="2872"/>
                <a:ext cx="60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dirty="0"/>
                  <a:t>Type 2 Service Facility</a:t>
                </a:r>
              </a:p>
            </p:txBody>
          </p:sp>
        </p:grpSp>
        <p:sp>
          <p:nvSpPr>
            <p:cNvPr id="18" name="Oval 10"/>
            <p:cNvSpPr>
              <a:spLocks noChangeArrowheads="1"/>
            </p:cNvSpPr>
            <p:nvPr/>
          </p:nvSpPr>
          <p:spPr bwMode="auto">
            <a:xfrm>
              <a:off x="2120" y="2882"/>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19" name="Oval 11"/>
            <p:cNvSpPr>
              <a:spLocks noChangeArrowheads="1"/>
            </p:cNvSpPr>
            <p:nvPr/>
          </p:nvSpPr>
          <p:spPr bwMode="auto">
            <a:xfrm>
              <a:off x="3296" y="2882"/>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spTree>
    <p:extLst>
      <p:ext uri="{BB962C8B-B14F-4D97-AF65-F5344CB8AC3E}">
        <p14:creationId xmlns:p14="http://schemas.microsoft.com/office/powerpoint/2010/main" val="119459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6"/>
          <p:cNvGrpSpPr>
            <a:grpSpLocks/>
          </p:cNvGrpSpPr>
          <p:nvPr/>
        </p:nvGrpSpPr>
        <p:grpSpPr bwMode="auto">
          <a:xfrm>
            <a:off x="2168525" y="971958"/>
            <a:ext cx="7556500" cy="4408488"/>
            <a:chOff x="502" y="735"/>
            <a:chExt cx="4760" cy="2777"/>
          </a:xfrm>
        </p:grpSpPr>
        <p:sp>
          <p:nvSpPr>
            <p:cNvPr id="3" name="Rectangle 21"/>
            <p:cNvSpPr>
              <a:spLocks noChangeArrowheads="1"/>
            </p:cNvSpPr>
            <p:nvPr/>
          </p:nvSpPr>
          <p:spPr bwMode="auto">
            <a:xfrm>
              <a:off x="1024" y="1408"/>
              <a:ext cx="3392" cy="2104"/>
            </a:xfrm>
            <a:prstGeom prst="rect">
              <a:avLst/>
            </a:prstGeom>
            <a:solidFill>
              <a:srgbClr val="BBE2EE"/>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4" name="Oval 22"/>
            <p:cNvSpPr>
              <a:spLocks noChangeArrowheads="1"/>
            </p:cNvSpPr>
            <p:nvPr/>
          </p:nvSpPr>
          <p:spPr bwMode="auto">
            <a:xfrm>
              <a:off x="1320" y="2252"/>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5" name="Oval 23"/>
            <p:cNvSpPr>
              <a:spLocks noChangeArrowheads="1"/>
            </p:cNvSpPr>
            <p:nvPr/>
          </p:nvSpPr>
          <p:spPr bwMode="auto">
            <a:xfrm>
              <a:off x="1916" y="2252"/>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6" name="Line 25"/>
            <p:cNvSpPr>
              <a:spLocks noChangeShapeType="1"/>
            </p:cNvSpPr>
            <p:nvPr/>
          </p:nvSpPr>
          <p:spPr bwMode="auto">
            <a:xfrm>
              <a:off x="3112" y="2452"/>
              <a:ext cx="456"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Line 27"/>
            <p:cNvSpPr>
              <a:spLocks noChangeShapeType="1"/>
            </p:cNvSpPr>
            <p:nvPr/>
          </p:nvSpPr>
          <p:spPr bwMode="auto">
            <a:xfrm>
              <a:off x="2800" y="2452"/>
              <a:ext cx="27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28"/>
            <p:cNvSpPr>
              <a:spLocks noChangeShapeType="1"/>
            </p:cNvSpPr>
            <p:nvPr/>
          </p:nvSpPr>
          <p:spPr bwMode="auto">
            <a:xfrm>
              <a:off x="1000" y="2452"/>
              <a:ext cx="31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29"/>
            <p:cNvSpPr txBox="1">
              <a:spLocks noChangeArrowheads="1"/>
            </p:cNvSpPr>
            <p:nvPr/>
          </p:nvSpPr>
          <p:spPr bwMode="auto">
            <a:xfrm>
              <a:off x="1501" y="735"/>
              <a:ext cx="257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chemeClr val="accent1">
                      <a:lumMod val="60000"/>
                      <a:lumOff val="40000"/>
                    </a:schemeClr>
                  </a:solidFill>
                </a:rPr>
                <a:t>3. Multichannel, Single-Phase System</a:t>
              </a:r>
            </a:p>
          </p:txBody>
        </p:sp>
        <p:sp>
          <p:nvSpPr>
            <p:cNvPr id="10" name="Text Box 30"/>
            <p:cNvSpPr txBox="1">
              <a:spLocks noChangeArrowheads="1"/>
            </p:cNvSpPr>
            <p:nvPr/>
          </p:nvSpPr>
          <p:spPr bwMode="auto">
            <a:xfrm>
              <a:off x="502" y="2356"/>
              <a:ext cx="5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1400">
                  <a:solidFill>
                    <a:schemeClr val="accent1"/>
                  </a:solidFill>
                  <a:effectLst>
                    <a:outerShdw blurRad="38100" dist="38100" dir="2700000" algn="tl">
                      <a:srgbClr val="C0C0C0"/>
                    </a:outerShdw>
                  </a:effectLst>
                </a:rPr>
                <a:t>Arrivals</a:t>
              </a:r>
            </a:p>
          </p:txBody>
        </p:sp>
        <p:sp>
          <p:nvSpPr>
            <p:cNvPr id="11" name="Text Box 32"/>
            <p:cNvSpPr txBox="1">
              <a:spLocks noChangeArrowheads="1"/>
            </p:cNvSpPr>
            <p:nvPr/>
          </p:nvSpPr>
          <p:spPr bwMode="auto">
            <a:xfrm>
              <a:off x="1838" y="1823"/>
              <a:ext cx="4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Queue</a:t>
              </a:r>
            </a:p>
          </p:txBody>
        </p:sp>
        <p:sp>
          <p:nvSpPr>
            <p:cNvPr id="12" name="Oval 38"/>
            <p:cNvSpPr>
              <a:spLocks noChangeArrowheads="1"/>
            </p:cNvSpPr>
            <p:nvPr/>
          </p:nvSpPr>
          <p:spPr bwMode="auto">
            <a:xfrm>
              <a:off x="2496" y="2252"/>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13" name="Line 45"/>
            <p:cNvSpPr>
              <a:spLocks noChangeShapeType="1"/>
            </p:cNvSpPr>
            <p:nvPr/>
          </p:nvSpPr>
          <p:spPr bwMode="auto">
            <a:xfrm flipV="1">
              <a:off x="3112" y="1888"/>
              <a:ext cx="480" cy="576"/>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46"/>
            <p:cNvSpPr>
              <a:spLocks noChangeShapeType="1"/>
            </p:cNvSpPr>
            <p:nvPr/>
          </p:nvSpPr>
          <p:spPr bwMode="auto">
            <a:xfrm>
              <a:off x="3112" y="2464"/>
              <a:ext cx="480" cy="576"/>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5" name="Group 52"/>
            <p:cNvGrpSpPr>
              <a:grpSpLocks/>
            </p:cNvGrpSpPr>
            <p:nvPr/>
          </p:nvGrpSpPr>
          <p:grpSpPr bwMode="auto">
            <a:xfrm>
              <a:off x="3575" y="1616"/>
              <a:ext cx="1687" cy="504"/>
              <a:chOff x="3647" y="1616"/>
              <a:chExt cx="1687" cy="504"/>
            </a:xfrm>
          </p:grpSpPr>
          <p:sp>
            <p:nvSpPr>
              <p:cNvPr id="27" name="Line 48"/>
              <p:cNvSpPr>
                <a:spLocks noChangeShapeType="1"/>
              </p:cNvSpPr>
              <p:nvPr/>
            </p:nvSpPr>
            <p:spPr bwMode="auto">
              <a:xfrm>
                <a:off x="4208" y="1868"/>
                <a:ext cx="39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6"/>
              <p:cNvSpPr>
                <a:spLocks noChangeShapeType="1"/>
              </p:cNvSpPr>
              <p:nvPr/>
            </p:nvSpPr>
            <p:spPr bwMode="auto">
              <a:xfrm>
                <a:off x="3815" y="1868"/>
                <a:ext cx="27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Rectangle 33"/>
              <p:cNvSpPr>
                <a:spLocks noChangeArrowheads="1"/>
              </p:cNvSpPr>
              <p:nvPr/>
            </p:nvSpPr>
            <p:spPr bwMode="auto">
              <a:xfrm>
                <a:off x="3675" y="1616"/>
                <a:ext cx="552" cy="504"/>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30" name="Text Box 34"/>
              <p:cNvSpPr txBox="1">
                <a:spLocks noChangeArrowheads="1"/>
              </p:cNvSpPr>
              <p:nvPr/>
            </p:nvSpPr>
            <p:spPr bwMode="auto">
              <a:xfrm>
                <a:off x="3647" y="1658"/>
                <a:ext cx="60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a:t>Service Facility</a:t>
                </a:r>
                <a:br>
                  <a:rPr lang="en-US" altLang="en-US" sz="1400"/>
                </a:br>
                <a:r>
                  <a:rPr lang="en-US" altLang="en-US" sz="1400"/>
                  <a:t>1</a:t>
                </a:r>
              </a:p>
            </p:txBody>
          </p:sp>
          <p:sp>
            <p:nvSpPr>
              <p:cNvPr id="31" name="Text Box 50"/>
              <p:cNvSpPr txBox="1">
                <a:spLocks noChangeArrowheads="1"/>
              </p:cNvSpPr>
              <p:nvPr/>
            </p:nvSpPr>
            <p:spPr bwMode="auto">
              <a:xfrm>
                <a:off x="4590" y="1779"/>
                <a:ext cx="74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defRPr/>
                </a:pPr>
                <a:r>
                  <a:rPr lang="en-US" sz="1400">
                    <a:solidFill>
                      <a:schemeClr val="accent1"/>
                    </a:solidFill>
                    <a:effectLst>
                      <a:outerShdw blurRad="38100" dist="38100" dir="2700000" algn="tl">
                        <a:srgbClr val="C0C0C0"/>
                      </a:outerShdw>
                    </a:effectLst>
                  </a:rPr>
                  <a:t>Departures</a:t>
                </a:r>
              </a:p>
            </p:txBody>
          </p:sp>
        </p:grpSp>
        <p:grpSp>
          <p:nvGrpSpPr>
            <p:cNvPr id="16" name="Group 53"/>
            <p:cNvGrpSpPr>
              <a:grpSpLocks/>
            </p:cNvGrpSpPr>
            <p:nvPr/>
          </p:nvGrpSpPr>
          <p:grpSpPr bwMode="auto">
            <a:xfrm>
              <a:off x="3575" y="2200"/>
              <a:ext cx="1687" cy="504"/>
              <a:chOff x="3647" y="2160"/>
              <a:chExt cx="1687" cy="504"/>
            </a:xfrm>
          </p:grpSpPr>
          <p:sp>
            <p:nvSpPr>
              <p:cNvPr id="23" name="Line 47"/>
              <p:cNvSpPr>
                <a:spLocks noChangeShapeType="1"/>
              </p:cNvSpPr>
              <p:nvPr/>
            </p:nvSpPr>
            <p:spPr bwMode="auto">
              <a:xfrm>
                <a:off x="4208" y="2412"/>
                <a:ext cx="39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Text Box 31"/>
              <p:cNvSpPr txBox="1">
                <a:spLocks noChangeArrowheads="1"/>
              </p:cNvSpPr>
              <p:nvPr/>
            </p:nvSpPr>
            <p:spPr bwMode="auto">
              <a:xfrm>
                <a:off x="4590" y="2323"/>
                <a:ext cx="74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defRPr/>
                </a:pPr>
                <a:r>
                  <a:rPr lang="en-US" sz="1400">
                    <a:solidFill>
                      <a:schemeClr val="accent1"/>
                    </a:solidFill>
                    <a:effectLst>
                      <a:outerShdw blurRad="38100" dist="38100" dir="2700000" algn="tl">
                        <a:srgbClr val="C0C0C0"/>
                      </a:outerShdw>
                    </a:effectLst>
                  </a:rPr>
                  <a:t>after</a:t>
                </a:r>
              </a:p>
            </p:txBody>
          </p:sp>
          <p:sp>
            <p:nvSpPr>
              <p:cNvPr id="25" name="Rectangle 44"/>
              <p:cNvSpPr>
                <a:spLocks noChangeArrowheads="1"/>
              </p:cNvSpPr>
              <p:nvPr/>
            </p:nvSpPr>
            <p:spPr bwMode="auto">
              <a:xfrm>
                <a:off x="3675" y="2160"/>
                <a:ext cx="552" cy="504"/>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26" name="Text Box 37"/>
              <p:cNvSpPr txBox="1">
                <a:spLocks noChangeArrowheads="1"/>
              </p:cNvSpPr>
              <p:nvPr/>
            </p:nvSpPr>
            <p:spPr bwMode="auto">
              <a:xfrm>
                <a:off x="3647" y="2201"/>
                <a:ext cx="60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a:t>Service Facility</a:t>
                </a:r>
                <a:br>
                  <a:rPr lang="en-US" altLang="en-US" sz="1400"/>
                </a:br>
                <a:r>
                  <a:rPr lang="en-US" altLang="en-US" sz="1400"/>
                  <a:t>2</a:t>
                </a:r>
              </a:p>
            </p:txBody>
          </p:sp>
        </p:grpSp>
        <p:grpSp>
          <p:nvGrpSpPr>
            <p:cNvPr id="17" name="Group 54"/>
            <p:cNvGrpSpPr>
              <a:grpSpLocks/>
            </p:cNvGrpSpPr>
            <p:nvPr/>
          </p:nvGrpSpPr>
          <p:grpSpPr bwMode="auto">
            <a:xfrm>
              <a:off x="3575" y="2784"/>
              <a:ext cx="1687" cy="504"/>
              <a:chOff x="3647" y="2784"/>
              <a:chExt cx="1687" cy="504"/>
            </a:xfrm>
          </p:grpSpPr>
          <p:sp>
            <p:nvSpPr>
              <p:cNvPr id="19" name="Line 24"/>
              <p:cNvSpPr>
                <a:spLocks noChangeShapeType="1"/>
              </p:cNvSpPr>
              <p:nvPr/>
            </p:nvSpPr>
            <p:spPr bwMode="auto">
              <a:xfrm>
                <a:off x="4208" y="3036"/>
                <a:ext cx="39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Rectangle 43"/>
              <p:cNvSpPr>
                <a:spLocks noChangeArrowheads="1"/>
              </p:cNvSpPr>
              <p:nvPr/>
            </p:nvSpPr>
            <p:spPr bwMode="auto">
              <a:xfrm>
                <a:off x="3675" y="2784"/>
                <a:ext cx="552" cy="504"/>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21" name="Text Box 49"/>
              <p:cNvSpPr txBox="1">
                <a:spLocks noChangeArrowheads="1"/>
              </p:cNvSpPr>
              <p:nvPr/>
            </p:nvSpPr>
            <p:spPr bwMode="auto">
              <a:xfrm>
                <a:off x="4590" y="2947"/>
                <a:ext cx="74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defRPr/>
                </a:pPr>
                <a:r>
                  <a:rPr lang="en-US" sz="1400">
                    <a:solidFill>
                      <a:schemeClr val="accent1"/>
                    </a:solidFill>
                    <a:effectLst>
                      <a:outerShdw blurRad="38100" dist="38100" dir="2700000" algn="tl">
                        <a:srgbClr val="C0C0C0"/>
                      </a:outerShdw>
                    </a:effectLst>
                  </a:rPr>
                  <a:t>Service</a:t>
                </a:r>
              </a:p>
            </p:txBody>
          </p:sp>
          <p:sp>
            <p:nvSpPr>
              <p:cNvPr id="22" name="Text Box 42"/>
              <p:cNvSpPr txBox="1">
                <a:spLocks noChangeArrowheads="1"/>
              </p:cNvSpPr>
              <p:nvPr/>
            </p:nvSpPr>
            <p:spPr bwMode="auto">
              <a:xfrm>
                <a:off x="3647" y="2825"/>
                <a:ext cx="60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a:t>Service Facility</a:t>
                </a:r>
                <a:br>
                  <a:rPr lang="en-US" altLang="en-US" sz="1400"/>
                </a:br>
                <a:r>
                  <a:rPr lang="en-US" altLang="en-US" sz="1400"/>
                  <a:t>3</a:t>
                </a:r>
              </a:p>
            </p:txBody>
          </p:sp>
        </p:grpSp>
        <p:sp>
          <p:nvSpPr>
            <p:cNvPr id="18" name="Line 55"/>
            <p:cNvSpPr>
              <a:spLocks noChangeShapeType="1"/>
            </p:cNvSpPr>
            <p:nvPr/>
          </p:nvSpPr>
          <p:spPr bwMode="auto">
            <a:xfrm>
              <a:off x="3072" y="1800"/>
              <a:ext cx="0" cy="1328"/>
            </a:xfrm>
            <a:prstGeom prst="line">
              <a:avLst/>
            </a:prstGeom>
            <a:noFill/>
            <a:ln w="57150">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72308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5"/>
          <p:cNvGrpSpPr>
            <a:grpSpLocks/>
          </p:cNvGrpSpPr>
          <p:nvPr/>
        </p:nvGrpSpPr>
        <p:grpSpPr bwMode="auto">
          <a:xfrm>
            <a:off x="1534885" y="1219743"/>
            <a:ext cx="8702675" cy="3486151"/>
            <a:chOff x="230" y="900"/>
            <a:chExt cx="5312" cy="2196"/>
          </a:xfrm>
        </p:grpSpPr>
        <p:sp>
          <p:nvSpPr>
            <p:cNvPr id="3" name="Rectangle 6"/>
            <p:cNvSpPr>
              <a:spLocks noChangeArrowheads="1"/>
            </p:cNvSpPr>
            <p:nvPr/>
          </p:nvSpPr>
          <p:spPr bwMode="auto">
            <a:xfrm>
              <a:off x="840" y="1536"/>
              <a:ext cx="3856" cy="1560"/>
            </a:xfrm>
            <a:prstGeom prst="rect">
              <a:avLst/>
            </a:prstGeom>
            <a:solidFill>
              <a:srgbClr val="BBE2EE"/>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4" name="Line 51"/>
            <p:cNvSpPr>
              <a:spLocks noChangeShapeType="1"/>
            </p:cNvSpPr>
            <p:nvPr/>
          </p:nvSpPr>
          <p:spPr bwMode="auto">
            <a:xfrm>
              <a:off x="3451" y="2651"/>
              <a:ext cx="456"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 name="Oval 7"/>
            <p:cNvSpPr>
              <a:spLocks noChangeArrowheads="1"/>
            </p:cNvSpPr>
            <p:nvPr/>
          </p:nvSpPr>
          <p:spPr bwMode="auto">
            <a:xfrm>
              <a:off x="1048" y="2108"/>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6" name="Oval 8"/>
            <p:cNvSpPr>
              <a:spLocks noChangeArrowheads="1"/>
            </p:cNvSpPr>
            <p:nvPr/>
          </p:nvSpPr>
          <p:spPr bwMode="auto">
            <a:xfrm>
              <a:off x="1620" y="2108"/>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7" name="Line 9"/>
            <p:cNvSpPr>
              <a:spLocks noChangeShapeType="1"/>
            </p:cNvSpPr>
            <p:nvPr/>
          </p:nvSpPr>
          <p:spPr bwMode="auto">
            <a:xfrm>
              <a:off x="3451" y="1966"/>
              <a:ext cx="456"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10"/>
            <p:cNvSpPr>
              <a:spLocks noChangeShapeType="1"/>
            </p:cNvSpPr>
            <p:nvPr/>
          </p:nvSpPr>
          <p:spPr bwMode="auto">
            <a:xfrm>
              <a:off x="2488" y="2308"/>
              <a:ext cx="27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1"/>
            <p:cNvSpPr>
              <a:spLocks noChangeShapeType="1"/>
            </p:cNvSpPr>
            <p:nvPr/>
          </p:nvSpPr>
          <p:spPr bwMode="auto">
            <a:xfrm>
              <a:off x="728" y="2308"/>
              <a:ext cx="31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Text Box 12"/>
            <p:cNvSpPr txBox="1">
              <a:spLocks noChangeArrowheads="1"/>
            </p:cNvSpPr>
            <p:nvPr/>
          </p:nvSpPr>
          <p:spPr bwMode="auto">
            <a:xfrm>
              <a:off x="1653" y="900"/>
              <a:ext cx="23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u="sng" dirty="0">
                  <a:solidFill>
                    <a:schemeClr val="accent1">
                      <a:lumMod val="60000"/>
                      <a:lumOff val="40000"/>
                    </a:schemeClr>
                  </a:solidFill>
                </a:rPr>
                <a:t>4. Multichannel, Multiphase System</a:t>
              </a:r>
            </a:p>
          </p:txBody>
        </p:sp>
        <p:sp>
          <p:nvSpPr>
            <p:cNvPr id="11" name="Text Box 13"/>
            <p:cNvSpPr txBox="1">
              <a:spLocks noChangeArrowheads="1"/>
            </p:cNvSpPr>
            <p:nvPr/>
          </p:nvSpPr>
          <p:spPr bwMode="auto">
            <a:xfrm>
              <a:off x="230" y="2212"/>
              <a:ext cx="5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1400">
                  <a:solidFill>
                    <a:schemeClr val="accent1"/>
                  </a:solidFill>
                  <a:effectLst>
                    <a:outerShdw blurRad="38100" dist="38100" dir="2700000" algn="tl">
                      <a:srgbClr val="C0C0C0"/>
                    </a:outerShdw>
                  </a:effectLst>
                </a:rPr>
                <a:t>Arrivals</a:t>
              </a:r>
            </a:p>
          </p:txBody>
        </p:sp>
        <p:sp>
          <p:nvSpPr>
            <p:cNvPr id="12" name="Text Box 14"/>
            <p:cNvSpPr txBox="1">
              <a:spLocks noChangeArrowheads="1"/>
            </p:cNvSpPr>
            <p:nvPr/>
          </p:nvSpPr>
          <p:spPr bwMode="auto">
            <a:xfrm>
              <a:off x="1422" y="1775"/>
              <a:ext cx="46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Queue</a:t>
              </a:r>
            </a:p>
          </p:txBody>
        </p:sp>
        <p:sp>
          <p:nvSpPr>
            <p:cNvPr id="13" name="Oval 15"/>
            <p:cNvSpPr>
              <a:spLocks noChangeArrowheads="1"/>
            </p:cNvSpPr>
            <p:nvPr/>
          </p:nvSpPr>
          <p:spPr bwMode="auto">
            <a:xfrm>
              <a:off x="2192" y="2108"/>
              <a:ext cx="400" cy="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14" name="Line 16"/>
            <p:cNvSpPr>
              <a:spLocks noChangeShapeType="1"/>
            </p:cNvSpPr>
            <p:nvPr/>
          </p:nvSpPr>
          <p:spPr bwMode="auto">
            <a:xfrm flipV="1">
              <a:off x="2784" y="2055"/>
              <a:ext cx="153" cy="249"/>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7"/>
            <p:cNvSpPr>
              <a:spLocks noChangeShapeType="1"/>
            </p:cNvSpPr>
            <p:nvPr/>
          </p:nvSpPr>
          <p:spPr bwMode="auto">
            <a:xfrm>
              <a:off x="2784" y="2304"/>
              <a:ext cx="156" cy="258"/>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Text Box 23"/>
            <p:cNvSpPr txBox="1">
              <a:spLocks noChangeArrowheads="1"/>
            </p:cNvSpPr>
            <p:nvPr/>
          </p:nvSpPr>
          <p:spPr bwMode="auto">
            <a:xfrm>
              <a:off x="4822" y="2080"/>
              <a:ext cx="720"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defRPr/>
              </a:pPr>
              <a:r>
                <a:rPr lang="en-US" sz="1400">
                  <a:solidFill>
                    <a:schemeClr val="accent1"/>
                  </a:solidFill>
                  <a:effectLst>
                    <a:outerShdw blurRad="38100" dist="38100" dir="2700000" algn="tl">
                      <a:srgbClr val="C0C0C0"/>
                    </a:outerShdw>
                  </a:effectLst>
                </a:rPr>
                <a:t>Departures after Service</a:t>
              </a:r>
            </a:p>
          </p:txBody>
        </p:sp>
        <p:grpSp>
          <p:nvGrpSpPr>
            <p:cNvPr id="17" name="Group 48"/>
            <p:cNvGrpSpPr>
              <a:grpSpLocks/>
            </p:cNvGrpSpPr>
            <p:nvPr/>
          </p:nvGrpSpPr>
          <p:grpSpPr bwMode="auto">
            <a:xfrm>
              <a:off x="3890" y="1644"/>
              <a:ext cx="961" cy="608"/>
              <a:chOff x="3647" y="2744"/>
              <a:chExt cx="961" cy="608"/>
            </a:xfrm>
          </p:grpSpPr>
          <p:sp>
            <p:nvSpPr>
              <p:cNvPr id="31" name="Line 25"/>
              <p:cNvSpPr>
                <a:spLocks noChangeShapeType="1"/>
              </p:cNvSpPr>
              <p:nvPr/>
            </p:nvSpPr>
            <p:spPr bwMode="auto">
              <a:xfrm>
                <a:off x="4216" y="3048"/>
                <a:ext cx="39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Rectangle 43"/>
              <p:cNvSpPr>
                <a:spLocks noChangeArrowheads="1"/>
              </p:cNvSpPr>
              <p:nvPr/>
            </p:nvSpPr>
            <p:spPr bwMode="auto">
              <a:xfrm>
                <a:off x="3675" y="2744"/>
                <a:ext cx="552" cy="608"/>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33" name="Text Box 33"/>
              <p:cNvSpPr txBox="1">
                <a:spLocks noChangeArrowheads="1"/>
              </p:cNvSpPr>
              <p:nvPr/>
            </p:nvSpPr>
            <p:spPr bwMode="auto">
              <a:xfrm>
                <a:off x="3647" y="2777"/>
                <a:ext cx="609" cy="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a:t>Type 2 Service Facility</a:t>
                </a:r>
                <a:br>
                  <a:rPr lang="en-US" altLang="en-US" sz="1400"/>
                </a:br>
                <a:r>
                  <a:rPr lang="en-US" altLang="en-US" sz="1400"/>
                  <a:t>1</a:t>
                </a:r>
              </a:p>
            </p:txBody>
          </p:sp>
        </p:grpSp>
        <p:sp>
          <p:nvSpPr>
            <p:cNvPr id="18" name="Line 34"/>
            <p:cNvSpPr>
              <a:spLocks noChangeShapeType="1"/>
            </p:cNvSpPr>
            <p:nvPr/>
          </p:nvSpPr>
          <p:spPr bwMode="auto">
            <a:xfrm>
              <a:off x="2744" y="2016"/>
              <a:ext cx="0" cy="592"/>
            </a:xfrm>
            <a:prstGeom prst="line">
              <a:avLst/>
            </a:prstGeom>
            <a:noFill/>
            <a:ln w="57150">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9" name="Group 49"/>
            <p:cNvGrpSpPr>
              <a:grpSpLocks/>
            </p:cNvGrpSpPr>
            <p:nvPr/>
          </p:nvGrpSpPr>
          <p:grpSpPr bwMode="auto">
            <a:xfrm>
              <a:off x="3902" y="2360"/>
              <a:ext cx="961" cy="608"/>
              <a:chOff x="3647" y="3416"/>
              <a:chExt cx="961" cy="608"/>
            </a:xfrm>
          </p:grpSpPr>
          <p:sp>
            <p:nvSpPr>
              <p:cNvPr id="28" name="Line 19"/>
              <p:cNvSpPr>
                <a:spLocks noChangeShapeType="1"/>
              </p:cNvSpPr>
              <p:nvPr/>
            </p:nvSpPr>
            <p:spPr bwMode="auto">
              <a:xfrm>
                <a:off x="4216" y="3720"/>
                <a:ext cx="392" cy="0"/>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Rectangle 40"/>
              <p:cNvSpPr>
                <a:spLocks noChangeArrowheads="1"/>
              </p:cNvSpPr>
              <p:nvPr/>
            </p:nvSpPr>
            <p:spPr bwMode="auto">
              <a:xfrm>
                <a:off x="3676" y="3416"/>
                <a:ext cx="552" cy="608"/>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30" name="Text Box 42"/>
              <p:cNvSpPr txBox="1">
                <a:spLocks noChangeArrowheads="1"/>
              </p:cNvSpPr>
              <p:nvPr/>
            </p:nvSpPr>
            <p:spPr bwMode="auto">
              <a:xfrm>
                <a:off x="3647" y="3449"/>
                <a:ext cx="609" cy="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a:t>Type 2 Service Facility</a:t>
                </a:r>
                <a:br>
                  <a:rPr lang="en-US" altLang="en-US" sz="1400"/>
                </a:br>
                <a:r>
                  <a:rPr lang="en-US" altLang="en-US" sz="1400"/>
                  <a:t>2</a:t>
                </a:r>
              </a:p>
            </p:txBody>
          </p:sp>
        </p:grpSp>
        <p:sp>
          <p:nvSpPr>
            <p:cNvPr id="20" name="Line 52"/>
            <p:cNvSpPr>
              <a:spLocks noChangeShapeType="1"/>
            </p:cNvSpPr>
            <p:nvPr/>
          </p:nvSpPr>
          <p:spPr bwMode="auto">
            <a:xfrm flipV="1">
              <a:off x="3496" y="2017"/>
              <a:ext cx="405" cy="633"/>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53"/>
            <p:cNvSpPr>
              <a:spLocks noChangeShapeType="1"/>
            </p:cNvSpPr>
            <p:nvPr/>
          </p:nvSpPr>
          <p:spPr bwMode="auto">
            <a:xfrm>
              <a:off x="3517" y="1963"/>
              <a:ext cx="387" cy="648"/>
            </a:xfrm>
            <a:prstGeom prst="line">
              <a:avLst/>
            </a:prstGeom>
            <a:noFill/>
            <a:ln w="57150">
              <a:solidFill>
                <a:schemeClr val="accent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2" name="Group 47"/>
            <p:cNvGrpSpPr>
              <a:grpSpLocks/>
            </p:cNvGrpSpPr>
            <p:nvPr/>
          </p:nvGrpSpPr>
          <p:grpSpPr bwMode="auto">
            <a:xfrm>
              <a:off x="2921" y="2360"/>
              <a:ext cx="609" cy="608"/>
              <a:chOff x="3647" y="2160"/>
              <a:chExt cx="609" cy="608"/>
            </a:xfrm>
          </p:grpSpPr>
          <p:sp>
            <p:nvSpPr>
              <p:cNvPr id="26" name="Rectangle 44"/>
              <p:cNvSpPr>
                <a:spLocks noChangeArrowheads="1"/>
              </p:cNvSpPr>
              <p:nvPr/>
            </p:nvSpPr>
            <p:spPr bwMode="auto">
              <a:xfrm>
                <a:off x="3675" y="2160"/>
                <a:ext cx="552" cy="608"/>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27" name="Text Box 28"/>
              <p:cNvSpPr txBox="1">
                <a:spLocks noChangeArrowheads="1"/>
              </p:cNvSpPr>
              <p:nvPr/>
            </p:nvSpPr>
            <p:spPr bwMode="auto">
              <a:xfrm>
                <a:off x="3647" y="2193"/>
                <a:ext cx="609" cy="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a:t>Type 1 Service Facility</a:t>
                </a:r>
                <a:br>
                  <a:rPr lang="en-US" altLang="en-US" sz="1400"/>
                </a:br>
                <a:r>
                  <a:rPr lang="en-US" altLang="en-US" sz="1400"/>
                  <a:t>2</a:t>
                </a:r>
              </a:p>
            </p:txBody>
          </p:sp>
        </p:grpSp>
        <p:grpSp>
          <p:nvGrpSpPr>
            <p:cNvPr id="23" name="Group 54"/>
            <p:cNvGrpSpPr>
              <a:grpSpLocks/>
            </p:cNvGrpSpPr>
            <p:nvPr/>
          </p:nvGrpSpPr>
          <p:grpSpPr bwMode="auto">
            <a:xfrm>
              <a:off x="2921" y="1644"/>
              <a:ext cx="609" cy="608"/>
              <a:chOff x="2921" y="1644"/>
              <a:chExt cx="609" cy="608"/>
            </a:xfrm>
          </p:grpSpPr>
          <p:sp>
            <p:nvSpPr>
              <p:cNvPr id="24" name="Rectangle 45"/>
              <p:cNvSpPr>
                <a:spLocks noChangeArrowheads="1"/>
              </p:cNvSpPr>
              <p:nvPr/>
            </p:nvSpPr>
            <p:spPr bwMode="auto">
              <a:xfrm>
                <a:off x="2949" y="1644"/>
                <a:ext cx="552" cy="608"/>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sp>
            <p:nvSpPr>
              <p:cNvPr id="25" name="Text Box 22"/>
              <p:cNvSpPr txBox="1">
                <a:spLocks noChangeArrowheads="1"/>
              </p:cNvSpPr>
              <p:nvPr/>
            </p:nvSpPr>
            <p:spPr bwMode="auto">
              <a:xfrm>
                <a:off x="2921" y="1677"/>
                <a:ext cx="609" cy="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FontTx/>
                  <a:buNone/>
                </a:pPr>
                <a:r>
                  <a:rPr lang="en-US" altLang="en-US" sz="1400"/>
                  <a:t>Type 1 Service Facility</a:t>
                </a:r>
                <a:br>
                  <a:rPr lang="en-US" altLang="en-US" sz="1400"/>
                </a:br>
                <a:r>
                  <a:rPr lang="en-US" altLang="en-US" sz="1400"/>
                  <a:t>1</a:t>
                </a:r>
              </a:p>
            </p:txBody>
          </p:sp>
        </p:grpSp>
      </p:grpSp>
    </p:spTree>
    <p:extLst>
      <p:ext uri="{BB962C8B-B14F-4D97-AF65-F5344CB8AC3E}">
        <p14:creationId xmlns:p14="http://schemas.microsoft.com/office/powerpoint/2010/main" val="100267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bwMode="gray">
          <a:xfrm>
            <a:off x="1154953" y="1668659"/>
            <a:ext cx="10052977" cy="2677648"/>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800" u="sng" dirty="0"/>
              <a:t>Applications of Queuing Theory In Health-Care</a:t>
            </a:r>
          </a:p>
        </p:txBody>
      </p:sp>
      <p:sp>
        <p:nvSpPr>
          <p:cNvPr id="7" name="Subtitle 2"/>
          <p:cNvSpPr txBox="1">
            <a:spLocks/>
          </p:cNvSpPr>
          <p:nvPr/>
        </p:nvSpPr>
        <p:spPr bwMode="gray">
          <a:xfrm>
            <a:off x="7790887" y="5757094"/>
            <a:ext cx="3991811" cy="86142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lumMod val="60000"/>
                    <a:lumOff val="4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sz="2800" dirty="0"/>
              <a:t>				</a:t>
            </a:r>
          </a:p>
        </p:txBody>
      </p:sp>
    </p:spTree>
    <p:extLst>
      <p:ext uri="{BB962C8B-B14F-4D97-AF65-F5344CB8AC3E}">
        <p14:creationId xmlns:p14="http://schemas.microsoft.com/office/powerpoint/2010/main" val="1652819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gray">
          <a:xfrm>
            <a:off x="1311708" y="973668"/>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dirty="0"/>
              <a:t>Why is queueing analysis helpful in healthcare?</a:t>
            </a:r>
          </a:p>
        </p:txBody>
      </p:sp>
      <p:sp>
        <p:nvSpPr>
          <p:cNvPr id="4" name="Rectangle 3"/>
          <p:cNvSpPr/>
          <p:nvPr/>
        </p:nvSpPr>
        <p:spPr>
          <a:xfrm>
            <a:off x="248194" y="2704012"/>
            <a:ext cx="11639005" cy="3416320"/>
          </a:xfrm>
          <a:prstGeom prst="rect">
            <a:avLst/>
          </a:prstGeom>
        </p:spPr>
        <p:txBody>
          <a:bodyPr wrap="square">
            <a:spAutoFit/>
          </a:bodyPr>
          <a:lstStyle/>
          <a:p>
            <a:pPr marL="285750" indent="-285750" algn="just">
              <a:buFont typeface="Wingdings" panose="05000000000000000000" pitchFamily="2" charset="2"/>
              <a:buChar char="q"/>
            </a:pPr>
            <a:r>
              <a:rPr lang="en-US" dirty="0"/>
              <a:t>	Healthcare is riddled with delays. Almost all of us have waited for days or weeks to get an appointment with a physician or schedule a procedure, and upon arrival we wait some more until being seen. In hospitals, it is not unusual to find patients waiting for beds in hallways, and delays for surgery or diagnostic tests are common. </a:t>
            </a:r>
          </a:p>
          <a:p>
            <a:pPr algn="just"/>
            <a:endParaRPr lang="en-US" dirty="0"/>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	A simple example would be a healthcare clinic where patients walk in without appointments in an unpredictable fashion and require anything from a flu shot to the setting of a broken limb. This variability and the interaction between the arrival and service processes make the dynamics of service systems very complex. Consequently, it’s impossible to predict levels of congestion or to determine how much capacity is needed to achieve some desired level of performance without the help of a queueing model.</a:t>
            </a:r>
          </a:p>
        </p:txBody>
      </p:sp>
    </p:spTree>
    <p:extLst>
      <p:ext uri="{BB962C8B-B14F-4D97-AF65-F5344CB8AC3E}">
        <p14:creationId xmlns:p14="http://schemas.microsoft.com/office/powerpoint/2010/main" val="3588433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4771" y="973668"/>
            <a:ext cx="8761413" cy="706964"/>
          </a:xfrm>
        </p:spPr>
        <p:txBody>
          <a:bodyPr/>
          <a:lstStyle/>
          <a:p>
            <a:pPr algn="ctr"/>
            <a:r>
              <a:rPr lang="en-US" u="sng" dirty="0"/>
              <a:t>Applications of Queuing System In Healthcare :</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7619"/>
          <a:stretch/>
        </p:blipFill>
        <p:spPr>
          <a:xfrm>
            <a:off x="1" y="1933303"/>
            <a:ext cx="12192000" cy="4924697"/>
          </a:xfrm>
          <a:prstGeom prst="rect">
            <a:avLst/>
          </a:prstGeom>
        </p:spPr>
      </p:pic>
    </p:spTree>
    <p:extLst>
      <p:ext uri="{BB962C8B-B14F-4D97-AF65-F5344CB8AC3E}">
        <p14:creationId xmlns:p14="http://schemas.microsoft.com/office/powerpoint/2010/main" val="124716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08690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2331" y="1828800"/>
            <a:ext cx="10502538" cy="1815882"/>
          </a:xfrm>
          <a:prstGeom prst="rect">
            <a:avLst/>
          </a:prstGeom>
          <a:noFill/>
        </p:spPr>
        <p:txBody>
          <a:bodyPr wrap="square" rtlCol="0">
            <a:spAutoFit/>
          </a:bodyPr>
          <a:lstStyle/>
          <a:p>
            <a:pPr algn="ctr"/>
            <a:r>
              <a:rPr lang="en-US" sz="2800" u="sng" dirty="0">
                <a:solidFill>
                  <a:schemeClr val="accent6">
                    <a:lumMod val="75000"/>
                  </a:schemeClr>
                </a:solidFill>
              </a:rPr>
              <a:t>ASSIGNMENT</a:t>
            </a:r>
          </a:p>
          <a:p>
            <a:pPr algn="ctr"/>
            <a:endParaRPr lang="en-US" sz="2800" dirty="0">
              <a:solidFill>
                <a:schemeClr val="accent1">
                  <a:lumMod val="60000"/>
                  <a:lumOff val="40000"/>
                </a:schemeClr>
              </a:solidFill>
            </a:endParaRPr>
          </a:p>
          <a:p>
            <a:r>
              <a:rPr lang="en-US" sz="2800" dirty="0">
                <a:solidFill>
                  <a:schemeClr val="accent1">
                    <a:lumMod val="60000"/>
                    <a:lumOff val="40000"/>
                  </a:schemeClr>
                </a:solidFill>
              </a:rPr>
              <a:t>Q. Design a model of medical device by yourself using queuing theory and its parameters</a:t>
            </a:r>
            <a:r>
              <a:rPr lang="en-US" dirty="0"/>
              <a:t>.</a:t>
            </a:r>
          </a:p>
        </p:txBody>
      </p:sp>
    </p:spTree>
    <p:extLst>
      <p:ext uri="{BB962C8B-B14F-4D97-AF65-F5344CB8AC3E}">
        <p14:creationId xmlns:p14="http://schemas.microsoft.com/office/powerpoint/2010/main" val="220037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251</TotalTime>
  <Words>431</Words>
  <Application>Microsoft Office PowerPoint</Application>
  <PresentationFormat>Widescreen</PresentationFormat>
  <Paragraphs>115</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Century Gothic</vt:lpstr>
      <vt:lpstr>Times New Roman</vt:lpstr>
      <vt:lpstr>Wingdings</vt:lpstr>
      <vt:lpstr>Wingdings 3</vt:lpstr>
      <vt:lpstr>Ion Boardroom</vt:lpstr>
      <vt:lpstr>“INTRODUCTION TO QUEUING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 of Queuing System In Healthcare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murk saleem</dc:creator>
  <cp:lastModifiedBy>Wazir laghari</cp:lastModifiedBy>
  <cp:revision>21</cp:revision>
  <dcterms:created xsi:type="dcterms:W3CDTF">2016-11-06T09:19:50Z</dcterms:created>
  <dcterms:modified xsi:type="dcterms:W3CDTF">2025-11-04T17:17:22Z</dcterms:modified>
</cp:coreProperties>
</file>